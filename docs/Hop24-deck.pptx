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real I-24 Nashville footage from the team archive, and every box you see was stored by the pipeline before we touched it. Hop 24 is a video agent disguised as a game: you cross the highway as a chicken, and when a truck gets you, the agent takes over. Three minutes: the game, the kill-cam, the manhunt, the report, and the agent crossing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team archive holds 414 chunks; 30 of them are I-24 highway clips from three cameras on one pole. One 30-second clip alone carries 9,294 stored YOLO boxes. Today a hit-and-run means an operator clicking through cameras by hand, while the archive already holds a Cosmos description, embeddings and every box for that clip. Hop 24 makes that archive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is the hook, but it is honest: every vehicle is a YOLO box the pipeline stored before we arrived, and the collision is tested against the green silhouette inside that box, a FastSAM mask prompted by the stored box and precomputed on a laptop for the demo chunk. We fit the road direction from the boxes with PCA, so the same code works on any camera. In this run a semi, which YOLO labels as bus with 74 percent confidence, got the chicken at 2.4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you are hit, the last 2.4 seconds replay at 0.35x speed, letterboxed, with the killer's box tracked in red. When the replay ends, a blood sprite sheet bursts at the point of contact and stays on the road; then the evidence frame is re-captured with camera, segment, time, class and confidence burned in. Nothing in the video is altered. That line is the whole handoff from game to 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wrote a line of code, the DataEngine pipeline had already run Cosmos3-Reason on every 5-second segment and stored the description in VastDB. We counted: of 180 highway captions, 141 mention a vehicle colour, 48 say which lane, none give a lane number. The agent reads that description and pulls the colour word nearest the vehicle noun to build its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POST to /investigate, one hybrid search: caption vectors and visual vectors with a camera_id predicate, and VastDB returns the SQL it ran, which we put on screen. Sightings are grouped per camera as a corridor, and the strongest hit on another camera is highlighted. Be clear with the judges: this is description-similar search, candidate sightings, not vehicle re-identification.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ends with an action, not a chart. The incident report carries the event, camera and time, the detection, the stored description, the exact query, the sightings per camera, where the vehicle was last seen and a recommended action, with the evidence frame and the SQL attached. It downloads as HTML, copies as text, or 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index only knows what the prompt asked for. The stock prompt gives colour but no lane numbers, so the agent sends the clip back through the DataEngine with an investigator prompt: vehicle type, colour, lane number from the left shoulder, direction, trailer, lane changes with times. It takes minutes through the real pipeline, so we pre-run it; the point is that the next search is sharper because the agent sharpened the archive.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A and the agent plays with a policy it learned. We built a simulator from the archive's own detections of all thirty clips and trained a tabular Q-learning policy for 9,000 episodes, every run logged to Weights and Biases. Live, the page computes the same state and looks up the Q-table; unseen states fall back to the rule-based agent. It never looks ahead in the data. Learned beats rule-based 41 to 39 percent overall and 46 to 31 on this camera, but is worse on p1c3. It still dies sometimes; that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thing is a single page talking to a 580-line stdlib Python backend, which proxies the VSS REST API so the JWT never reaches the browser; everything it reads was produced by the DataEngine pipeline and stored in VastDB. Two offline tools sit beside it: FastSAM silhouettes prompted by the stored boxes, and the Q-learning trainer logged to Weights and Biases, both run on a laptop. The limits are real: candidate sightings not re-id, a staged collision, slow re-describe, masks for one chunk, and only one pole. Repo and live link are on the slide;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70A0F"/>
        </a:solidFill>
      </p:bgPr>
    </p:bg>
    <p:spTree>
      <p:nvGrpSpPr>
        <p:cNvPr id="1" name=""/>
        <p:cNvGrpSpPr/>
        <p:nvPr/>
      </p:nvGrpSpPr>
      <p:grpSpPr>
        <a:xfrm>
          <a:off x="0" y="0"/>
          <a:ext cx="0" cy="0"/>
          <a:chOff x="0" y="0"/>
          <a:chExt cx="0" cy="0"/>
        </a:xfrm>
      </p:grpSpPr>
      <p:sp>
        <p:nvSpPr>
          <p:cNvPr id="2" name="Text 0"/>
          <p:cNvSpPr/>
          <p:nvPr/>
        </p:nvSpPr>
        <p:spPr>
          <a:xfrm>
            <a:off x="457200" y="4800600"/>
            <a:ext cx="5486400" cy="274320"/>
          </a:xfrm>
          <a:prstGeom prst="rect">
            <a:avLst/>
          </a:prstGeom>
          <a:noFill/>
          <a:ln/>
        </p:spPr>
        <p:txBody>
          <a:bodyPr wrap="square" lIns="0" tIns="0" rIns="0" bIns="0" rtlCol="0" anchor="ctr"/>
          <a:lstStyle/>
          <a:p>
            <a:pPr indent="0" marL="0">
              <a:buNone/>
            </a:pPr>
            <a:r>
              <a:rPr lang="en-US" sz="900" dirty="0">
                <a:solidFill>
                  <a:srgbClr val="AEB6C4"/>
                </a:solidFill>
              </a:rPr>
              <a:t>HOP 24 · Team 10 · VAST Builders Challenge 2026</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EED">
    <p:bg>
      <p:bgPr>
        <a:solidFill>
          <a:srgbClr val="070A0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24 highway frame with YOLO boxes" descr="/private/tmp/claude-501/-Users-moorthy-Downloads-Projects-Vast-builders-challenge/7304a5c7-b157-4453-b023-e17c033f4df9/scratchpad/deck/img/hero_clean.jpg">    </p:cNvPr>
          <p:cNvPicPr>
            <a:picLocks noChangeAspect="1"/>
          </p:cNvPicPr>
          <p:nvPr/>
        </p:nvPicPr>
        <p:blipFill>
          <a:blip r:embed="rId1"/>
          <a:srcRect l="0" r="0" t="0" b="0"/>
          <a:stretch/>
        </p:blipFill>
        <p:spPr>
          <a:xfrm>
            <a:off x="0" y="0"/>
            <a:ext cx="9144000" cy="4000500"/>
          </a:xfrm>
          <a:prstGeom prst="rect">
            <a:avLst/>
          </a:prstGeom>
        </p:spPr>
      </p:pic>
      <p:sp>
        <p:nvSpPr>
          <p:cNvPr id="3" name="Letterbox"/>
          <p:cNvSpPr/>
          <p:nvPr/>
        </p:nvSpPr>
        <p:spPr>
          <a:xfrm>
            <a:off x="0" y="4000500"/>
            <a:ext cx="9144000" cy="1143000"/>
          </a:xfrm>
          <a:prstGeom prst="rect">
            <a:avLst/>
          </a:prstGeom>
          <a:solidFill>
            <a:srgbClr val="070A0F"/>
          </a:solidFill>
          <a:ln w="12700">
            <a:solidFill>
              <a:srgbClr val="070A0F"/>
            </a:solidFill>
            <a:prstDash val="solid"/>
          </a:ln>
        </p:spPr>
      </p:sp>
      <p:sp>
        <p:nvSpPr>
          <p:cNvPr id="4" name="Poster shade"/>
          <p:cNvSpPr/>
          <p:nvPr/>
        </p:nvSpPr>
        <p:spPr>
          <a:xfrm>
            <a:off x="0" y="2651760"/>
            <a:ext cx="9144000" cy="1371600"/>
          </a:xfrm>
          <a:prstGeom prst="rect">
            <a:avLst/>
          </a:prstGeom>
          <a:solidFill>
            <a:srgbClr val="000000">
              <a:alpha val="55000"/>
            </a:srgbClr>
          </a:solidFill>
          <a:ln w="12700">
            <a:solidFill>
              <a:srgbClr val="000000">
                <a:alpha val="0"/>
              </a:srgbClr>
            </a:solidFill>
            <a:prstDash val="solid"/>
          </a:ln>
        </p:spPr>
      </p:sp>
      <p:sp>
        <p:nvSpPr>
          <p:cNvPr id="5" name="Title"/>
          <p:cNvSpPr txBox="1"/>
          <p:nvPr/>
        </p:nvSpPr>
        <p:spPr>
          <a:xfrm>
            <a:off x="457200" y="2514600"/>
            <a:ext cx="5486400" cy="1005840"/>
          </a:xfrm>
          <a:prstGeom prst="rect">
            <a:avLst/>
          </a:prstGeom>
          <a:noFill/>
          <a:ln/>
        </p:spPr>
        <p:txBody>
          <a:bodyPr wrap="square" lIns="0" tIns="0" rIns="0" bIns="0" rtlCol="0" anchor="ctr"/>
          <a:lstStyle/>
          <a:p>
            <a:pPr indent="0" marL="0">
              <a:buNone/>
            </a:pPr>
            <a:r>
              <a:rPr lang="en-US" sz="7200" b="1" spc="600" kern="0" dirty="0">
                <a:solidFill>
                  <a:srgbClr val="FFCC33"/>
                </a:solidFill>
              </a:rPr>
              <a:t>HOP 24</a:t>
            </a:r>
            <a:endParaRPr lang="en-US" sz="7200" dirty="0"/>
          </a:p>
        </p:txBody>
      </p:sp>
      <p:sp>
        <p:nvSpPr>
          <p:cNvPr id="6" name="Tagline"/>
          <p:cNvSpPr txBox="1"/>
          <p:nvPr/>
        </p:nvSpPr>
        <p:spPr>
          <a:xfrm>
            <a:off x="457200" y="3474720"/>
            <a:ext cx="8229600" cy="457200"/>
          </a:xfrm>
          <a:prstGeom prst="rect">
            <a:avLst/>
          </a:prstGeom>
          <a:noFill/>
          <a:ln/>
        </p:spPr>
        <p:txBody>
          <a:bodyPr wrap="square" lIns="0" tIns="0" rIns="0" bIns="0" rtlCol="0" anchor="ctr"/>
          <a:lstStyle/>
          <a:p>
            <a:pPr indent="0" marL="0">
              <a:buNone/>
            </a:pPr>
            <a:r>
              <a:rPr lang="en-US" sz="2400" b="1" dirty="0">
                <a:solidFill>
                  <a:srgbClr val="FFFFFF"/>
                </a:solidFill>
              </a:rPr>
              <a:t>Cross a real highway. The archive is watching.</a:t>
            </a:r>
            <a:endParaRPr lang="en-US" sz="2400" dirty="0"/>
          </a:p>
        </p:txBody>
      </p:sp>
      <p:sp>
        <p:nvSpPr>
          <p:cNvPr id="7" name="Event"/>
          <p:cNvSpPr txBox="1"/>
          <p:nvPr/>
        </p:nvSpPr>
        <p:spPr>
          <a:xfrm>
            <a:off x="457200" y="4251960"/>
            <a:ext cx="6858000" cy="320040"/>
          </a:xfrm>
          <a:prstGeom prst="rect">
            <a:avLst/>
          </a:prstGeom>
          <a:noFill/>
          <a:ln/>
        </p:spPr>
        <p:txBody>
          <a:bodyPr wrap="square" lIns="0" tIns="0" rIns="0" bIns="0" rtlCol="0" anchor="ctr"/>
          <a:lstStyle/>
          <a:p>
            <a:pPr indent="0" marL="0">
              <a:buNone/>
            </a:pPr>
            <a:r>
              <a:rPr lang="en-US" sz="1300" dirty="0">
                <a:solidFill>
                  <a:srgbClr val="AEB6C4"/>
                </a:solidFill>
              </a:rPr>
              <a:t>Team 10  ·  VAST Builders Challenge 2026  ·  Real-Time Video Agents Hack, SF</a:t>
            </a:r>
            <a:endParaRPr lang="en-US" sz="1300" dirty="0"/>
          </a:p>
        </p:txBody>
      </p:sp>
      <p:sp>
        <p:nvSpPr>
          <p:cNvPr id="8" name="Stack"/>
          <p:cNvSpPr txBox="1"/>
          <p:nvPr/>
        </p:nvSpPr>
        <p:spPr>
          <a:xfrm>
            <a:off x="457200" y="4572000"/>
            <a:ext cx="6858000" cy="274320"/>
          </a:xfrm>
          <a:prstGeom prst="rect">
            <a:avLst/>
          </a:prstGeom>
          <a:noFill/>
          <a:ln/>
        </p:spPr>
        <p:txBody>
          <a:bodyPr wrap="square" lIns="0" tIns="0" rIns="0" bIns="0" rtlCol="0" anchor="ctr"/>
          <a:lstStyle/>
          <a:p>
            <a:pPr indent="0" marL="0">
              <a:buNone/>
            </a:pPr>
            <a:r>
              <a:rPr lang="en-US" sz="1100" dirty="0">
                <a:solidFill>
                  <a:srgbClr val="FFCC33"/>
                </a:solidFill>
              </a:rPr>
              <a:t>VAST AI OS · NVIDIA Cosmos + YOLO11 · CoreWeave</a:t>
            </a:r>
            <a:endParaRPr lang="en-US" sz="1100" dirty="0"/>
          </a:p>
        </p:txBody>
      </p:sp>
      <p:sp>
        <p:nvSpPr>
          <p:cNvPr id="9" name="Repo"/>
          <p:cNvSpPr txBox="1"/>
          <p:nvPr/>
        </p:nvSpPr>
        <p:spPr>
          <a:xfrm>
            <a:off x="5943600" y="4251960"/>
            <a:ext cx="2743200" cy="320040"/>
          </a:xfrm>
          <a:prstGeom prst="rect">
            <a:avLst/>
          </a:prstGeom>
          <a:noFill/>
          <a:ln/>
        </p:spPr>
        <p:txBody>
          <a:bodyPr wrap="square" lIns="0" tIns="0" rIns="0" bIns="0" rtlCol="0" anchor="ctr"/>
          <a:lstStyle/>
          <a:p>
            <a:pPr algn="r" indent="0" marL="0">
              <a:buNone/>
            </a:pPr>
            <a:r>
              <a:rPr lang="en-US" sz="1200" dirty="0">
                <a:solidFill>
                  <a:srgbClr val="AEB6C4"/>
                </a:solidFill>
              </a:rPr>
              <a:t>github.com/vnmoorthy/hop24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PROBLEM</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Nobody watches the archive</a:t>
            </a:r>
            <a:endParaRPr lang="en-US" sz="2800" dirty="0"/>
          </a:p>
        </p:txBody>
      </p:sp>
      <p:sp>
        <p:nvSpPr>
          <p:cNvPr id="4" name="Card"/>
          <p:cNvSpPr/>
          <p:nvPr/>
        </p:nvSpPr>
        <p:spPr>
          <a:xfrm>
            <a:off x="457200" y="1234440"/>
            <a:ext cx="1417320" cy="1325880"/>
          </a:xfrm>
          <a:prstGeom prst="roundRect">
            <a:avLst>
              <a:gd name="adj" fmla="val 5517"/>
            </a:avLst>
          </a:prstGeom>
          <a:solidFill>
            <a:srgbClr val="121826"/>
          </a:solidFill>
          <a:ln w="9525">
            <a:solidFill>
              <a:srgbClr val="202A3D"/>
            </a:solidFill>
            <a:prstDash val="solid"/>
          </a:ln>
        </p:spPr>
      </p:sp>
      <p:sp>
        <p:nvSpPr>
          <p:cNvPr id="5" name="Stat"/>
          <p:cNvSpPr txBox="1"/>
          <p:nvPr/>
        </p:nvSpPr>
        <p:spPr>
          <a:xfrm>
            <a:off x="594360" y="1307592"/>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414</a:t>
            </a:r>
            <a:endParaRPr lang="en-US" sz="3000" dirty="0"/>
          </a:p>
        </p:txBody>
      </p:sp>
      <p:sp>
        <p:nvSpPr>
          <p:cNvPr id="6" name="Stat label"/>
          <p:cNvSpPr txBox="1"/>
          <p:nvPr/>
        </p:nvSpPr>
        <p:spPr>
          <a:xfrm>
            <a:off x="594360" y="2039112"/>
            <a:ext cx="1143000" cy="484632"/>
          </a:xfrm>
          <a:prstGeom prst="rect">
            <a:avLst/>
          </a:prstGeom>
          <a:noFill/>
          <a:ln/>
        </p:spPr>
        <p:txBody>
          <a:bodyPr wrap="square" lIns="0" tIns="0" rIns="0" bIns="0" rtlCol="0" anchor="t"/>
          <a:lstStyle/>
          <a:p>
            <a:pPr indent="0" marL="0">
              <a:buNone/>
            </a:pPr>
            <a:r>
              <a:rPr lang="en-US" sz="1100" dirty="0">
                <a:solidFill>
                  <a:srgbClr val="AEB6C4"/>
                </a:solidFill>
              </a:rPr>
              <a:t>video chunks indexed in the team archive</a:t>
            </a:r>
            <a:endParaRPr lang="en-US" sz="1100" dirty="0"/>
          </a:p>
        </p:txBody>
      </p:sp>
      <p:sp>
        <p:nvSpPr>
          <p:cNvPr id="7" name="Card"/>
          <p:cNvSpPr/>
          <p:nvPr/>
        </p:nvSpPr>
        <p:spPr>
          <a:xfrm>
            <a:off x="2011680" y="1234440"/>
            <a:ext cx="1417320" cy="1325880"/>
          </a:xfrm>
          <a:prstGeom prst="roundRect">
            <a:avLst>
              <a:gd name="adj" fmla="val 5517"/>
            </a:avLst>
          </a:prstGeom>
          <a:solidFill>
            <a:srgbClr val="121826"/>
          </a:solidFill>
          <a:ln w="9525">
            <a:solidFill>
              <a:srgbClr val="202A3D"/>
            </a:solidFill>
            <a:prstDash val="solid"/>
          </a:ln>
        </p:spPr>
      </p:sp>
      <p:sp>
        <p:nvSpPr>
          <p:cNvPr id="8" name="Stat"/>
          <p:cNvSpPr txBox="1"/>
          <p:nvPr/>
        </p:nvSpPr>
        <p:spPr>
          <a:xfrm>
            <a:off x="2148840" y="1307592"/>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30</a:t>
            </a:r>
            <a:endParaRPr lang="en-US" sz="3000" dirty="0"/>
          </a:p>
        </p:txBody>
      </p:sp>
      <p:sp>
        <p:nvSpPr>
          <p:cNvPr id="9" name="Stat label"/>
          <p:cNvSpPr txBox="1"/>
          <p:nvPr/>
        </p:nvSpPr>
        <p:spPr>
          <a:xfrm>
            <a:off x="2148840" y="2039112"/>
            <a:ext cx="1143000" cy="484632"/>
          </a:xfrm>
          <a:prstGeom prst="rect">
            <a:avLst/>
          </a:prstGeom>
          <a:noFill/>
          <a:ln/>
        </p:spPr>
        <p:txBody>
          <a:bodyPr wrap="square" lIns="0" tIns="0" rIns="0" bIns="0" rtlCol="0" anchor="t"/>
          <a:lstStyle/>
          <a:p>
            <a:pPr indent="0" marL="0">
              <a:buNone/>
            </a:pPr>
            <a:r>
              <a:rPr lang="en-US" sz="1100" dirty="0">
                <a:solidFill>
                  <a:srgbClr val="AEB6C4"/>
                </a:solidFill>
              </a:rPr>
              <a:t>I-24 highway clips, 3 cameras on one pole</a:t>
            </a:r>
            <a:endParaRPr lang="en-US" sz="1100" dirty="0"/>
          </a:p>
        </p:txBody>
      </p:sp>
      <p:sp>
        <p:nvSpPr>
          <p:cNvPr id="10" name="Card"/>
          <p:cNvSpPr/>
          <p:nvPr/>
        </p:nvSpPr>
        <p:spPr>
          <a:xfrm>
            <a:off x="3520440" y="1234440"/>
            <a:ext cx="1417320" cy="1325880"/>
          </a:xfrm>
          <a:prstGeom prst="roundRect">
            <a:avLst>
              <a:gd name="adj" fmla="val 5517"/>
            </a:avLst>
          </a:prstGeom>
          <a:solidFill>
            <a:srgbClr val="121826"/>
          </a:solidFill>
          <a:ln w="9525">
            <a:solidFill>
              <a:srgbClr val="202A3D"/>
            </a:solidFill>
            <a:prstDash val="solid"/>
          </a:ln>
        </p:spPr>
      </p:sp>
      <p:sp>
        <p:nvSpPr>
          <p:cNvPr id="11" name="Stat"/>
          <p:cNvSpPr txBox="1"/>
          <p:nvPr/>
        </p:nvSpPr>
        <p:spPr>
          <a:xfrm>
            <a:off x="3657600" y="1307592"/>
            <a:ext cx="1143000" cy="731520"/>
          </a:xfrm>
          <a:prstGeom prst="rect">
            <a:avLst/>
          </a:prstGeom>
          <a:noFill/>
          <a:ln/>
        </p:spPr>
        <p:txBody>
          <a:bodyPr wrap="square" lIns="0" tIns="0" rIns="0" bIns="0" rtlCol="0" anchor="ctr"/>
          <a:lstStyle/>
          <a:p>
            <a:pPr indent="0" marL="0">
              <a:buNone/>
            </a:pPr>
            <a:r>
              <a:rPr lang="en-US" sz="3000" b="1" dirty="0">
                <a:solidFill>
                  <a:srgbClr val="FFCC33"/>
                </a:solidFill>
              </a:rPr>
              <a:t>9,294</a:t>
            </a:r>
            <a:endParaRPr lang="en-US" sz="3000" dirty="0"/>
          </a:p>
        </p:txBody>
      </p:sp>
      <p:sp>
        <p:nvSpPr>
          <p:cNvPr id="12" name="Stat label"/>
          <p:cNvSpPr txBox="1"/>
          <p:nvPr/>
        </p:nvSpPr>
        <p:spPr>
          <a:xfrm>
            <a:off x="3657600" y="2039112"/>
            <a:ext cx="1143000" cy="484632"/>
          </a:xfrm>
          <a:prstGeom prst="rect">
            <a:avLst/>
          </a:prstGeom>
          <a:noFill/>
          <a:ln/>
        </p:spPr>
        <p:txBody>
          <a:bodyPr wrap="square" lIns="0" tIns="0" rIns="0" bIns="0" rtlCol="0" anchor="t"/>
          <a:lstStyle/>
          <a:p>
            <a:pPr indent="0" marL="0">
              <a:buNone/>
            </a:pPr>
            <a:r>
              <a:rPr lang="en-US" sz="1100" dirty="0">
                <a:solidFill>
                  <a:srgbClr val="AEB6C4"/>
                </a:solidFill>
              </a:rPr>
              <a:t>YOLO boxes in one 30-second clip</a:t>
            </a:r>
            <a:endParaRPr lang="en-US" sz="1100" dirty="0"/>
          </a:p>
        </p:txBody>
      </p:sp>
      <p:sp>
        <p:nvSpPr>
          <p:cNvPr id="13" name="Body"/>
          <p:cNvSpPr txBox="1"/>
          <p:nvPr/>
        </p:nvSpPr>
        <p:spPr>
          <a:xfrm>
            <a:off x="457200" y="2788920"/>
            <a:ext cx="4480560" cy="192024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FFFFFF"/>
                </a:solidFill>
              </a:rPr>
              <a:t>A vehicle hits someone and keeps going.</a:t>
            </a:r>
            <a:endParaRPr lang="en-US" sz="1400" dirty="0"/>
          </a:p>
          <a:p>
            <a:pPr marL="177800" indent="-177800">
              <a:spcAft>
                <a:spcPts val="800"/>
              </a:spcAft>
              <a:buSzPct val="100000"/>
              <a:buChar char="•"/>
            </a:pPr>
            <a:r>
              <a:rPr lang="en-US" sz="1400" dirty="0">
                <a:solidFill>
                  <a:srgbClr val="FFFFFF"/>
                </a:solidFill>
              </a:rPr>
              <a:t>An operator opens cameras one by one and scrubs 30-second clips by hand.</a:t>
            </a:r>
            <a:endParaRPr lang="en-US" sz="1400" dirty="0"/>
          </a:p>
          <a:p>
            <a:pPr marL="177800" indent="-177800">
              <a:spcAft>
                <a:spcPts val="800"/>
              </a:spcAft>
              <a:buSzPct val="100000"/>
              <a:buChar char="•"/>
            </a:pPr>
            <a:r>
              <a:rPr lang="en-US" sz="1400" dirty="0">
                <a:solidFill>
                  <a:srgbClr val="FFFFFF"/>
                </a:solidFill>
              </a:rPr>
              <a:t>Yet the pipeline already wrote a description, vectors and 9,294 boxes for that clip into VastDB. The knowledge exists; nobody asks it anything.</a:t>
            </a:r>
            <a:endParaRPr lang="en-US" sz="1400" dirty="0"/>
          </a:p>
        </p:txBody>
      </p:sp>
      <p:pic>
        <p:nvPicPr>
          <p:cNvPr id="14" name="Intro screen over real I-24 footage" descr="/private/tmp/claude-501/-Users-moorthy-Downloads-Projects-Vast-builders-challenge/7304a5c7-b157-4453-b023-e17c033f4df9/scratchpad/deck/img/intro_game.jpg">    </p:cNvPr>
          <p:cNvPicPr>
            <a:picLocks noChangeAspect="1"/>
          </p:cNvPicPr>
          <p:nvPr/>
        </p:nvPicPr>
        <p:blipFill>
          <a:blip r:embed="rId1"/>
          <a:stretch>
            <a:fillRect/>
          </a:stretch>
        </p:blipFill>
        <p:spPr>
          <a:xfrm>
            <a:off x="5212080" y="1234440"/>
            <a:ext cx="3474720" cy="1929384"/>
          </a:xfrm>
          <a:prstGeom prst="rect">
            <a:avLst/>
          </a:prstGeom>
        </p:spPr>
      </p:pic>
      <p:sp>
        <p:nvSpPr>
          <p:cNvPr id="15" name="Caption"/>
          <p:cNvSpPr txBox="1"/>
          <p:nvPr/>
        </p:nvSpPr>
        <p:spPr>
          <a:xfrm>
            <a:off x="5212080" y="3200400"/>
            <a:ext cx="3474720" cy="274320"/>
          </a:xfrm>
          <a:prstGeom prst="rect">
            <a:avLst/>
          </a:prstGeom>
          <a:noFill/>
          <a:ln/>
        </p:spPr>
        <p:txBody>
          <a:bodyPr wrap="square" lIns="0" tIns="0" rIns="0" bIns="0" rtlCol="0" anchor="ctr"/>
          <a:lstStyle/>
          <a:p>
            <a:pPr indent="0" marL="0">
              <a:buNone/>
            </a:pPr>
            <a:r>
              <a:rPr lang="en-US" sz="900" i="1" dirty="0">
                <a:solidFill>
                  <a:srgbClr val="AEB6C4"/>
                </a:solidFill>
              </a:rPr>
              <a:t>scene1_p1c2 · chunk_0003 · 6 segments · 9,294 detections stored by the pipeline</a:t>
            </a:r>
            <a:endParaRPr lang="en-US" sz="900" dirty="0"/>
          </a:p>
        </p:txBody>
      </p:sp>
      <p:pic>
        <p:nvPicPr>
          <p:cNvPr id="16" name="Evidence frame" descr="/private/tmp/claude-501/-Users-moorthy-Downloads-Projects-Vast-builders-challenge/7304a5c7-b157-4453-b023-e17c033f4df9/scratchpad/deck/img/evidence.jpg">    </p:cNvPr>
          <p:cNvPicPr>
            <a:picLocks noChangeAspect="1"/>
          </p:cNvPicPr>
          <p:nvPr/>
        </p:nvPicPr>
        <p:blipFill>
          <a:blip r:embed="rId2"/>
          <a:stretch>
            <a:fillRect/>
          </a:stretch>
        </p:blipFill>
        <p:spPr>
          <a:xfrm>
            <a:off x="5212080" y="3520440"/>
            <a:ext cx="1600200" cy="1197864"/>
          </a:xfrm>
          <a:prstGeom prst="rect">
            <a:avLst/>
          </a:prstGeom>
        </p:spPr>
      </p:pic>
      <p:sp>
        <p:nvSpPr>
          <p:cNvPr id="17" name="Detection facts"/>
          <p:cNvSpPr txBox="1"/>
          <p:nvPr/>
        </p:nvSpPr>
        <p:spPr>
          <a:xfrm>
            <a:off x="6949440" y="3520440"/>
            <a:ext cx="1737360" cy="1197864"/>
          </a:xfrm>
          <a:prstGeom prst="rect">
            <a:avLst/>
          </a:prstGeom>
          <a:noFill/>
          <a:ln/>
        </p:spPr>
        <p:txBody>
          <a:bodyPr wrap="square" lIns="0" tIns="0" rIns="0" bIns="0" rtlCol="0" anchor="ctr"/>
          <a:lstStyle/>
          <a:p>
            <a:pPr indent="0" marL="0">
              <a:buNone/>
            </a:pPr>
            <a:r>
              <a:rPr lang="en-US" sz="1000" dirty="0">
                <a:solidFill>
                  <a:srgbClr val="AEB6C4"/>
                </a:solidFill>
              </a:rPr>
              <a:t>1920×1080 @ 30 fps</a:t>
            </a:r>
            <a:endParaRPr lang="en-US" sz="1000" dirty="0"/>
          </a:p>
          <a:p>
            <a:pPr indent="0" marL="0">
              <a:buNone/>
            </a:pPr>
            <a:r>
              <a:rPr lang="en-US" sz="1000" dirty="0">
                <a:solidFill>
                  <a:srgbClr val="AEB6C4"/>
                </a:solidFill>
              </a:rPr>
              <a:t>150 frames per 5 s segment</a:t>
            </a:r>
            <a:endParaRPr lang="en-US" sz="1000" dirty="0"/>
          </a:p>
          <a:p>
            <a:pPr indent="0" marL="0">
              <a:buNone/>
            </a:pPr>
            <a:r>
              <a:rPr lang="en-US" sz="1000" dirty="0">
                <a:solidFill>
                  <a:srgbClr val="AEB6C4"/>
                </a:solidFill>
              </a:rPr>
              <a:t>classes: car, truck, bus</a:t>
            </a:r>
            <a:endParaRPr lang="en-US" sz="1000" dirty="0"/>
          </a:p>
          <a:p>
            <a:pPr indent="0" marL="0">
              <a:buNone/>
            </a:pPr>
            <a:r>
              <a:rPr lang="en-US" sz="1000" dirty="0">
                <a:solidFill>
                  <a:srgbClr val="AEB6C4"/>
                </a:solidFill>
              </a:rPr>
              <a:t>bbox [x1,y1,x2,y2] px</a:t>
            </a:r>
            <a:endParaRPr lang="en-US" sz="10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IDEA</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A game you cannot fake</a:t>
            </a:r>
            <a:endParaRPr lang="en-US" sz="2800" dirty="0"/>
          </a:p>
        </p:txBody>
      </p:sp>
      <p:sp>
        <p:nvSpPr>
          <p:cNvPr id="4" name="Body"/>
          <p:cNvSpPr txBox="1"/>
          <p:nvPr/>
        </p:nvSpPr>
        <p:spPr>
          <a:xfrm>
            <a:off x="457200" y="1188720"/>
            <a:ext cx="3657600" cy="3474720"/>
          </a:xfrm>
          <a:prstGeom prst="rect">
            <a:avLst/>
          </a:prstGeom>
          <a:noFill/>
          <a:ln/>
        </p:spPr>
        <p:txBody>
          <a:bodyPr wrap="square" lIns="0" tIns="0" rIns="0" bIns="0" rtlCol="0" anchor="t"/>
          <a:lstStyle/>
          <a:p>
            <a:pPr marL="177800" indent="-177800">
              <a:spcAft>
                <a:spcPts val="800"/>
              </a:spcAft>
              <a:buSzPct val="100000"/>
              <a:buChar char="•"/>
            </a:pPr>
            <a:r>
              <a:rPr lang="en-US" sz="1200" dirty="0">
                <a:solidFill>
                  <a:srgbClr val="FFFFFF"/>
                </a:solidFill>
              </a:rPr>
              <a:t>Every vehicle on screen is a stored YOLO11 box, drawn frame-synchronously from the VastDB detections sidecar.</a:t>
            </a:r>
            <a:endParaRPr lang="en-US" sz="1200" dirty="0"/>
          </a:p>
          <a:p>
            <a:pPr marL="177800" indent="-177800">
              <a:spcAft>
                <a:spcPts val="800"/>
              </a:spcAft>
              <a:buSzPct val="100000"/>
              <a:buChar char="•"/>
            </a:pPr>
            <a:r>
              <a:rPr lang="en-US" sz="1200" dirty="0">
                <a:solidFill>
                  <a:srgbClr val="FFFFFF"/>
                </a:solidFill>
              </a:rPr>
              <a:t>Inside each box, a green vehicle silhouette: FastSAM prompted by the stored box (seg/masks.py), ≤14-point polygon, precomputed for the demo chunk.</a:t>
            </a:r>
            <a:endParaRPr lang="en-US" sz="1200" dirty="0"/>
          </a:p>
          <a:p>
            <a:pPr marL="177800" indent="-177800">
              <a:spcAft>
                <a:spcPts val="800"/>
              </a:spcAft>
              <a:buSzPct val="100000"/>
              <a:buChar char="•"/>
            </a:pPr>
            <a:r>
              <a:rPr lang="en-US" sz="1200" dirty="0">
                <a:solidFill>
                  <a:srgbClr val="FFFFFF"/>
                </a:solidFill>
              </a:rPr>
              <a:t>Collision = the chicken's 5 body points inside that silhouette (ellipse fallback where no masks exist). The archive's detections ARE the physics.</a:t>
            </a:r>
            <a:endParaRPr lang="en-US" sz="1200" dirty="0"/>
          </a:p>
          <a:p>
            <a:pPr marL="177800" indent="-177800">
              <a:spcAft>
                <a:spcPts val="800"/>
              </a:spcAft>
              <a:buSzPct val="100000"/>
              <a:buChar char="•"/>
            </a:pPr>
            <a:r>
              <a:rPr lang="en-US" sz="1200" dirty="0">
                <a:solidFill>
                  <a:srgbClr val="FFFFFF"/>
                </a:solidFill>
              </a:rPr>
              <a:t>The road axis is fitted from the boxes themselves (PCA of box centres); the chicken is a sprite sheet, the only thing drawn.</a:t>
            </a:r>
            <a:endParaRPr lang="en-US" sz="1200" dirty="0"/>
          </a:p>
          <a:p>
            <a:pPr marL="177800" indent="-177800">
              <a:spcAft>
                <a:spcPts val="800"/>
              </a:spcAft>
              <a:buSzPct val="100000"/>
              <a:buChar char="•"/>
            </a:pPr>
            <a:r>
              <a:rPr lang="en-US" sz="1200" dirty="0">
                <a:solidFill>
                  <a:srgbClr val="FFFFFF"/>
                </a:solidFill>
              </a:rPr>
              <a:t>Nothing is scripted: when you get hit, a real detection hit you.</a:t>
            </a:r>
            <a:endParaRPr lang="en-US" sz="1200" dirty="0"/>
          </a:p>
        </p:txBody>
      </p:sp>
      <p:pic>
        <p:nvPicPr>
          <p:cNvPr id="5" name="SPLAT: killed by a bus (74%) after 2.4 s" descr="/private/tmp/claude-501/-Users-moorthy-Downloads-Projects-Vast-builders-challenge/7304a5c7-b157-4453-b023-e17c033f4df9/scratchpad/deck/img/splat_game.jpg">    </p:cNvPr>
          <p:cNvPicPr>
            <a:picLocks noChangeAspect="1"/>
          </p:cNvPicPr>
          <p:nvPr/>
        </p:nvPicPr>
        <p:blipFill>
          <a:blip r:embed="rId1"/>
          <a:stretch>
            <a:fillRect/>
          </a:stretch>
        </p:blipFill>
        <p:spPr>
          <a:xfrm>
            <a:off x="4389120" y="1188720"/>
            <a:ext cx="4297680" cy="2386584"/>
          </a:xfrm>
          <a:prstGeom prst="rect">
            <a:avLst/>
          </a:prstGeom>
        </p:spPr>
      </p:pic>
      <p:sp>
        <p:nvSpPr>
          <p:cNvPr id="6" name="Caption"/>
          <p:cNvSpPr txBox="1"/>
          <p:nvPr/>
        </p:nvSpPr>
        <p:spPr>
          <a:xfrm>
            <a:off x="4389120" y="3611880"/>
            <a:ext cx="4297680" cy="274320"/>
          </a:xfrm>
          <a:prstGeom prst="rect">
            <a:avLst/>
          </a:prstGeom>
          <a:noFill/>
          <a:ln/>
        </p:spPr>
        <p:txBody>
          <a:bodyPr wrap="square" lIns="0" tIns="0" rIns="0" bIns="0" rtlCol="0" anchor="ctr"/>
          <a:lstStyle/>
          <a:p>
            <a:pPr indent="0" marL="0">
              <a:buNone/>
            </a:pPr>
            <a:r>
              <a:rPr lang="en-US" sz="900" i="1" dirty="0">
                <a:solidFill>
                  <a:srgbClr val="AEB6C4"/>
                </a:solidFill>
              </a:rPr>
              <a:t>“the agent was killed by a bus (74% sure) after 2.4 s” — a semi the detector labelled bus</a:t>
            </a:r>
            <a:endParaRPr lang="en-US" sz="900" dirty="0"/>
          </a:p>
        </p:txBody>
      </p:sp>
      <p:sp>
        <p:nvSpPr>
          <p:cNvPr id="7" name="Code"/>
          <p:cNvSpPr txBox="1"/>
          <p:nvPr/>
        </p:nvSpPr>
        <p:spPr>
          <a:xfrm>
            <a:off x="4389120" y="3977640"/>
            <a:ext cx="4297680" cy="45720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GET /boxes → 150 frames × {label, confidence, bbox}  ·  GET /masks → FastSAM polygons, every 3rd frame  ·  HUD: silhouettes · FastSAM</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KILL-CAM</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Slow-motion replay, then the evidence frame</a:t>
            </a:r>
            <a:endParaRPr lang="en-US" sz="2800" dirty="0"/>
          </a:p>
        </p:txBody>
      </p:sp>
      <p:pic>
        <p:nvPicPr>
          <p:cNvPr id="4" name="Letterboxed slow-motion replay" descr="/private/tmp/claude-501/-Users-moorthy-Downloads-Projects-Vast-builders-challenge/7304a5c7-b157-4453-b023-e17c033f4df9/scratchpad/deck/img/replay_game.jpg">    </p:cNvPr>
          <p:cNvPicPr>
            <a:picLocks noChangeAspect="1"/>
          </p:cNvPicPr>
          <p:nvPr/>
        </p:nvPicPr>
        <p:blipFill>
          <a:blip r:embed="rId1"/>
          <a:stretch>
            <a:fillRect/>
          </a:stretch>
        </p:blipFill>
        <p:spPr>
          <a:xfrm>
            <a:off x="457200" y="1188720"/>
            <a:ext cx="3931920" cy="2185416"/>
          </a:xfrm>
          <a:prstGeom prst="rect">
            <a:avLst/>
          </a:prstGeom>
        </p:spPr>
      </p:pic>
      <p:sp>
        <p:nvSpPr>
          <p:cNvPr id="5" name="Caption"/>
          <p:cNvSpPr txBox="1"/>
          <p:nvPr/>
        </p:nvSpPr>
        <p:spPr>
          <a:xfrm>
            <a:off x="457200" y="3401568"/>
            <a:ext cx="3931920" cy="274320"/>
          </a:xfrm>
          <a:prstGeom prst="rect">
            <a:avLst/>
          </a:prstGeom>
          <a:noFill/>
          <a:ln/>
        </p:spPr>
        <p:txBody>
          <a:bodyPr wrap="square" lIns="0" tIns="0" rIns="0" bIns="0" rtlCol="0" anchor="ctr"/>
          <a:lstStyle/>
          <a:p>
            <a:pPr indent="0" marL="0">
              <a:buNone/>
            </a:pPr>
            <a:r>
              <a:rPr lang="en-US" sz="900" i="1" dirty="0">
                <a:solidFill>
                  <a:srgbClr val="AEB6C4"/>
                </a:solidFill>
              </a:rPr>
              <a:t>0.35× replay of the last 2.4 s, killer tracked in red</a:t>
            </a:r>
            <a:endParaRPr lang="en-US" sz="900" dirty="0"/>
          </a:p>
        </p:txBody>
      </p:sp>
      <p:pic>
        <p:nvPicPr>
          <p:cNvPr id="6" name="Evidence frame with burned-in metadata" descr="/private/tmp/claude-501/-Users-moorthy-Downloads-Projects-Vast-builders-challenge/7304a5c7-b157-4453-b023-e17c033f4df9/scratchpad/deck/img/evidence.jpg">    </p:cNvPr>
          <p:cNvPicPr>
            <a:picLocks noChangeAspect="1"/>
          </p:cNvPicPr>
          <p:nvPr/>
        </p:nvPicPr>
        <p:blipFill>
          <a:blip r:embed="rId2"/>
          <a:stretch>
            <a:fillRect/>
          </a:stretch>
        </p:blipFill>
        <p:spPr>
          <a:xfrm>
            <a:off x="4663440" y="1188720"/>
            <a:ext cx="2926080" cy="2185416"/>
          </a:xfrm>
          <a:prstGeom prst="rect">
            <a:avLst/>
          </a:prstGeom>
        </p:spPr>
      </p:pic>
      <p:sp>
        <p:nvSpPr>
          <p:cNvPr id="7" name="Caption"/>
          <p:cNvSpPr txBox="1"/>
          <p:nvPr/>
        </p:nvSpPr>
        <p:spPr>
          <a:xfrm>
            <a:off x="4663440" y="3401568"/>
            <a:ext cx="2926080" cy="274320"/>
          </a:xfrm>
          <a:prstGeom prst="rect">
            <a:avLst/>
          </a:prstGeom>
          <a:noFill/>
          <a:ln/>
        </p:spPr>
        <p:txBody>
          <a:bodyPr wrap="square" lIns="0" tIns="0" rIns="0" bIns="0" rtlCol="0" anchor="ctr"/>
          <a:lstStyle/>
          <a:p>
            <a:pPr indent="0" marL="0">
              <a:buNone/>
            </a:pPr>
            <a:r>
              <a:rPr lang="en-US" sz="900" i="1" dirty="0">
                <a:solidFill>
                  <a:srgbClr val="AEB6C4"/>
                </a:solidFill>
              </a:rPr>
              <a:t>evidence frame re-captured after the impact settles, metadata burned in</a:t>
            </a:r>
            <a:endParaRPr lang="en-US" sz="900" dirty="0"/>
          </a:p>
        </p:txBody>
      </p:sp>
      <p:sp>
        <p:nvSpPr>
          <p:cNvPr id="8" name="Code"/>
          <p:cNvSpPr txBox="1"/>
          <p:nvPr/>
        </p:nvSpPr>
        <p:spPr>
          <a:xfrm>
            <a:off x="457200" y="3794760"/>
            <a:ext cx="3931920" cy="41148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1200" dirty="0">
                <a:solidFill>
                  <a:srgbClr val="FFCC33"/>
                </a:solidFill>
                <a:latin typeface="Courier New" pitchFamily="34" charset="0"/>
                <a:ea typeface="Courier New" pitchFamily="34" charset="-122"/>
                <a:cs typeface="Courier New" pitchFamily="34" charset="-120"/>
              </a:rPr>
              <a:t>scene1_p1c2 · seg 1 · t=2.95s · bus 0.7364</a:t>
            </a:r>
            <a:endParaRPr lang="en-US" sz="1200" dirty="0"/>
          </a:p>
        </p:txBody>
      </p:sp>
      <p:sp>
        <p:nvSpPr>
          <p:cNvPr id="9" name="Evidence explainer"/>
          <p:cNvSpPr txBox="1"/>
          <p:nvPr/>
        </p:nvSpPr>
        <p:spPr>
          <a:xfrm>
            <a:off x="4663440" y="3794760"/>
            <a:ext cx="4023360" cy="914400"/>
          </a:xfrm>
          <a:prstGeom prst="rect">
            <a:avLst/>
          </a:prstGeom>
          <a:noFill/>
          <a:ln/>
        </p:spPr>
        <p:txBody>
          <a:bodyPr wrap="square" lIns="0" tIns="0" rIns="0" bIns="0" rtlCol="0" anchor="t"/>
          <a:lstStyle/>
          <a:p>
            <a:pPr indent="0" marL="0">
              <a:buNone/>
            </a:pPr>
            <a:r>
              <a:rPr lang="en-US" sz="1050" b="1" dirty="0">
                <a:solidFill>
                  <a:srgbClr val="FFFFFF"/>
                </a:solidFill>
              </a:rPr>
              <a:t>replay → blood at the point of contact → evidence frame</a:t>
            </a:r>
            <a:endParaRPr lang="en-US" sz="1050" dirty="0"/>
          </a:p>
          <a:p>
            <a:pPr indent="0" marL="0">
              <a:buNone/>
            </a:pPr>
            <a:r>
              <a:rPr lang="en-US" sz="1050" dirty="0">
                <a:solidFill>
                  <a:srgbClr val="AEB6C4"/>
                </a:solidFill>
              </a:rPr>
              <a:t>After the replay a 12-frame blood sprite sheet bursts where the silhouette touched the chicken and stays as a stain; the evidence frame is re-captured ~60 ms later so the report shows the scene as it ended. The footage itself is untouched.</a:t>
            </a:r>
            <a:endParaRPr lang="en-US" sz="105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THE ARCHIVE ALREADY KNEW</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The stored Cosmos description of that segment</a:t>
            </a:r>
            <a:endParaRPr lang="en-US" sz="2800" dirty="0"/>
          </a:p>
        </p:txBody>
      </p:sp>
      <p:sp>
        <p:nvSpPr>
          <p:cNvPr id="4" name="Card"/>
          <p:cNvSpPr/>
          <p:nvPr/>
        </p:nvSpPr>
        <p:spPr>
          <a:xfrm>
            <a:off x="457200" y="1188720"/>
            <a:ext cx="1463040" cy="731520"/>
          </a:xfrm>
          <a:prstGeom prst="roundRect">
            <a:avLst>
              <a:gd name="adj" fmla="val 10000"/>
            </a:avLst>
          </a:prstGeom>
          <a:solidFill>
            <a:srgbClr val="121826"/>
          </a:solidFill>
          <a:ln w="9525">
            <a:solidFill>
              <a:srgbClr val="202A3D"/>
            </a:solidFill>
            <a:prstDash val="solid"/>
          </a:ln>
        </p:spPr>
      </p:sp>
      <p:sp>
        <p:nvSpPr>
          <p:cNvPr id="5" name="Pipeline step"/>
          <p:cNvSpPr txBox="1"/>
          <p:nvPr/>
        </p:nvSpPr>
        <p:spPr>
          <a:xfrm>
            <a:off x="45720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Segmenter</a:t>
            </a:r>
            <a:endParaRPr lang="en-US" sz="1100" dirty="0"/>
          </a:p>
        </p:txBody>
      </p:sp>
      <p:sp>
        <p:nvSpPr>
          <p:cNvPr id="6" name="Arrow"/>
          <p:cNvSpPr txBox="1"/>
          <p:nvPr/>
        </p:nvSpPr>
        <p:spPr>
          <a:xfrm>
            <a:off x="192024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7" name="Card"/>
          <p:cNvSpPr/>
          <p:nvPr/>
        </p:nvSpPr>
        <p:spPr>
          <a:xfrm>
            <a:off x="2148840" y="1188720"/>
            <a:ext cx="1463040" cy="731520"/>
          </a:xfrm>
          <a:prstGeom prst="roundRect">
            <a:avLst>
              <a:gd name="adj" fmla="val 10000"/>
            </a:avLst>
          </a:prstGeom>
          <a:solidFill>
            <a:srgbClr val="121826"/>
          </a:solidFill>
          <a:ln w="9525">
            <a:solidFill>
              <a:srgbClr val="202A3D"/>
            </a:solidFill>
            <a:prstDash val="solid"/>
          </a:ln>
        </p:spPr>
      </p:sp>
      <p:sp>
        <p:nvSpPr>
          <p:cNvPr id="8" name="Pipeline step"/>
          <p:cNvSpPr txBox="1"/>
          <p:nvPr/>
        </p:nvSpPr>
        <p:spPr>
          <a:xfrm>
            <a:off x="214884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Detector</a:t>
            </a:r>
            <a:endParaRPr lang="en-US" sz="1100" dirty="0"/>
          </a:p>
          <a:p>
            <a:pPr algn="ctr" indent="0" marL="0">
              <a:buNone/>
            </a:pPr>
            <a:r>
              <a:rPr lang="en-US" sz="1100" b="1" dirty="0">
                <a:solidFill>
                  <a:srgbClr val="FFFFFF"/>
                </a:solidFill>
              </a:rPr>
              <a:t>YOLO11s</a:t>
            </a:r>
            <a:endParaRPr lang="en-US" sz="1100" dirty="0"/>
          </a:p>
        </p:txBody>
      </p:sp>
      <p:sp>
        <p:nvSpPr>
          <p:cNvPr id="9" name="Arrow"/>
          <p:cNvSpPr txBox="1"/>
          <p:nvPr/>
        </p:nvSpPr>
        <p:spPr>
          <a:xfrm>
            <a:off x="361188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0" name="Card"/>
          <p:cNvSpPr/>
          <p:nvPr/>
        </p:nvSpPr>
        <p:spPr>
          <a:xfrm>
            <a:off x="3840480" y="1188720"/>
            <a:ext cx="1463040" cy="731520"/>
          </a:xfrm>
          <a:prstGeom prst="roundRect">
            <a:avLst>
              <a:gd name="adj" fmla="val 10000"/>
            </a:avLst>
          </a:prstGeom>
          <a:solidFill>
            <a:srgbClr val="121826"/>
          </a:solidFill>
          <a:ln w="9525">
            <a:solidFill>
              <a:srgbClr val="202A3D"/>
            </a:solidFill>
            <a:prstDash val="solid"/>
          </a:ln>
        </p:spPr>
      </p:sp>
      <p:sp>
        <p:nvSpPr>
          <p:cNvPr id="11" name="Pipeline step"/>
          <p:cNvSpPr txBox="1"/>
          <p:nvPr/>
        </p:nvSpPr>
        <p:spPr>
          <a:xfrm>
            <a:off x="384048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Reasoner</a:t>
            </a:r>
            <a:endParaRPr lang="en-US" sz="1100" dirty="0"/>
          </a:p>
          <a:p>
            <a:pPr algn="ctr" indent="0" marL="0">
              <a:buNone/>
            </a:pPr>
            <a:r>
              <a:rPr lang="en-US" sz="1100" b="1" dirty="0">
                <a:solidFill>
                  <a:srgbClr val="FFFFFF"/>
                </a:solidFill>
              </a:rPr>
              <a:t>Cosmos3-Reason</a:t>
            </a:r>
            <a:endParaRPr lang="en-US" sz="1100" dirty="0"/>
          </a:p>
        </p:txBody>
      </p:sp>
      <p:sp>
        <p:nvSpPr>
          <p:cNvPr id="12" name="Arrow"/>
          <p:cNvSpPr txBox="1"/>
          <p:nvPr/>
        </p:nvSpPr>
        <p:spPr>
          <a:xfrm>
            <a:off x="530352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3" name="Card"/>
          <p:cNvSpPr/>
          <p:nvPr/>
        </p:nvSpPr>
        <p:spPr>
          <a:xfrm>
            <a:off x="5532120" y="1188720"/>
            <a:ext cx="1463040" cy="731520"/>
          </a:xfrm>
          <a:prstGeom prst="roundRect">
            <a:avLst>
              <a:gd name="adj" fmla="val 10000"/>
            </a:avLst>
          </a:prstGeom>
          <a:solidFill>
            <a:srgbClr val="121826"/>
          </a:solidFill>
          <a:ln w="9525">
            <a:solidFill>
              <a:srgbClr val="202A3D"/>
            </a:solidFill>
            <a:prstDash val="solid"/>
          </a:ln>
        </p:spPr>
      </p:sp>
      <p:sp>
        <p:nvSpPr>
          <p:cNvPr id="14" name="Pipeline step"/>
          <p:cNvSpPr txBox="1"/>
          <p:nvPr/>
        </p:nvSpPr>
        <p:spPr>
          <a:xfrm>
            <a:off x="5532120" y="1188720"/>
            <a:ext cx="1463040" cy="731520"/>
          </a:xfrm>
          <a:prstGeom prst="rect">
            <a:avLst/>
          </a:prstGeom>
          <a:noFill/>
          <a:ln/>
        </p:spPr>
        <p:txBody>
          <a:bodyPr wrap="square" lIns="0" tIns="0" rIns="0" bIns="0" rtlCol="0" anchor="ctr"/>
          <a:lstStyle/>
          <a:p>
            <a:pPr algn="ctr" indent="0" marL="0">
              <a:buNone/>
            </a:pPr>
            <a:r>
              <a:rPr lang="en-US" sz="1100" b="1" dirty="0">
                <a:solidFill>
                  <a:srgbClr val="FFFFFF"/>
                </a:solidFill>
              </a:rPr>
              <a:t>Embedder</a:t>
            </a:r>
            <a:endParaRPr lang="en-US" sz="1100" dirty="0"/>
          </a:p>
          <a:p>
            <a:pPr algn="ctr" indent="0" marL="0">
              <a:buNone/>
            </a:pPr>
            <a:r>
              <a:rPr lang="en-US" sz="1100" b="1" dirty="0">
                <a:solidFill>
                  <a:srgbClr val="FFFFFF"/>
                </a:solidFill>
              </a:rPr>
              <a:t>Cosmos Embed1</a:t>
            </a:r>
            <a:endParaRPr lang="en-US" sz="1100" dirty="0"/>
          </a:p>
        </p:txBody>
      </p:sp>
      <p:sp>
        <p:nvSpPr>
          <p:cNvPr id="15" name="Arrow"/>
          <p:cNvSpPr txBox="1"/>
          <p:nvPr/>
        </p:nvSpPr>
        <p:spPr>
          <a:xfrm>
            <a:off x="6995160" y="1188720"/>
            <a:ext cx="228600" cy="731520"/>
          </a:xfrm>
          <a:prstGeom prst="rect">
            <a:avLst/>
          </a:prstGeom>
          <a:noFill/>
          <a:ln/>
        </p:spPr>
        <p:txBody>
          <a:bodyPr wrap="square" lIns="0" tIns="0" rIns="0" bIns="0" rtlCol="0" anchor="ctr"/>
          <a:lstStyle/>
          <a:p>
            <a:pPr algn="ctr" indent="0" marL="0">
              <a:buNone/>
            </a:pPr>
            <a:r>
              <a:rPr lang="en-US" sz="1800" dirty="0">
                <a:solidFill>
                  <a:srgbClr val="FFCC33"/>
                </a:solidFill>
              </a:rPr>
              <a:t>›</a:t>
            </a:r>
            <a:endParaRPr lang="en-US" sz="1800" dirty="0"/>
          </a:p>
        </p:txBody>
      </p:sp>
      <p:sp>
        <p:nvSpPr>
          <p:cNvPr id="16" name="Card"/>
          <p:cNvSpPr/>
          <p:nvPr/>
        </p:nvSpPr>
        <p:spPr>
          <a:xfrm>
            <a:off x="7223760" y="1188720"/>
            <a:ext cx="1463040" cy="731520"/>
          </a:xfrm>
          <a:prstGeom prst="roundRect">
            <a:avLst>
              <a:gd name="adj" fmla="val 10000"/>
            </a:avLst>
          </a:prstGeom>
          <a:solidFill>
            <a:srgbClr val="1F2A1B"/>
          </a:solidFill>
          <a:ln w="9525">
            <a:solidFill>
              <a:srgbClr val="202A3D"/>
            </a:solidFill>
            <a:prstDash val="solid"/>
          </a:ln>
        </p:spPr>
      </p:sp>
      <p:sp>
        <p:nvSpPr>
          <p:cNvPr id="17" name="Pipeline step"/>
          <p:cNvSpPr txBox="1"/>
          <p:nvPr/>
        </p:nvSpPr>
        <p:spPr>
          <a:xfrm>
            <a:off x="7223760" y="1188720"/>
            <a:ext cx="1463040" cy="731520"/>
          </a:xfrm>
          <a:prstGeom prst="rect">
            <a:avLst/>
          </a:prstGeom>
          <a:noFill/>
          <a:ln/>
        </p:spPr>
        <p:txBody>
          <a:bodyPr wrap="square" lIns="0" tIns="0" rIns="0" bIns="0" rtlCol="0" anchor="ctr"/>
          <a:lstStyle/>
          <a:p>
            <a:pPr algn="ctr" indent="0" marL="0">
              <a:buNone/>
            </a:pPr>
            <a:r>
              <a:rPr lang="en-US" sz="1100" b="1" dirty="0">
                <a:solidFill>
                  <a:srgbClr val="4CD38A"/>
                </a:solidFill>
              </a:rPr>
              <a:t>VastDB</a:t>
            </a:r>
            <a:endParaRPr lang="en-US" sz="1100" dirty="0"/>
          </a:p>
          <a:p>
            <a:pPr algn="ctr" indent="0" marL="0">
              <a:buNone/>
            </a:pPr>
            <a:r>
              <a:rPr lang="en-US" sz="1100" b="1" dirty="0">
                <a:solidFill>
                  <a:srgbClr val="4CD38A"/>
                </a:solidFill>
              </a:rPr>
              <a:t>vss-collection</a:t>
            </a:r>
            <a:endParaRPr lang="en-US" sz="1100" dirty="0"/>
          </a:p>
        </p:txBody>
      </p:sp>
      <p:sp>
        <p:nvSpPr>
          <p:cNvPr id="18" name="Caption"/>
          <p:cNvSpPr txBox="1"/>
          <p:nvPr/>
        </p:nvSpPr>
        <p:spPr>
          <a:xfrm>
            <a:off x="457200" y="1965960"/>
            <a:ext cx="8229600" cy="274320"/>
          </a:xfrm>
          <a:prstGeom prst="rect">
            <a:avLst/>
          </a:prstGeom>
          <a:noFill/>
          <a:ln/>
        </p:spPr>
        <p:txBody>
          <a:bodyPr wrap="square" lIns="0" tIns="0" rIns="0" bIns="0" rtlCol="0" anchor="ctr"/>
          <a:lstStyle/>
          <a:p>
            <a:pPr indent="0" marL="0">
              <a:buNone/>
            </a:pPr>
            <a:r>
              <a:rPr lang="en-US" sz="900" i="1" dirty="0">
                <a:solidFill>
                  <a:srgbClr val="AEB6C4"/>
                </a:solidFill>
              </a:rPr>
              <a:t>DataEngine serverless pipeline (pre-built by the organisers) — Hop 24 reads what it wrote: caption, 256-dim text + visual vectors, boxes, camera_id</a:t>
            </a:r>
            <a:endParaRPr lang="en-US" sz="900" dirty="0"/>
          </a:p>
        </p:txBody>
      </p:sp>
      <p:sp>
        <p:nvSpPr>
          <p:cNvPr id="19" name="Card"/>
          <p:cNvSpPr/>
          <p:nvPr/>
        </p:nvSpPr>
        <p:spPr>
          <a:xfrm>
            <a:off x="457200" y="2377440"/>
            <a:ext cx="1920240" cy="1325880"/>
          </a:xfrm>
          <a:prstGeom prst="roundRect">
            <a:avLst>
              <a:gd name="adj" fmla="val 5517"/>
            </a:avLst>
          </a:prstGeom>
          <a:solidFill>
            <a:srgbClr val="121826"/>
          </a:solidFill>
          <a:ln w="9525">
            <a:solidFill>
              <a:srgbClr val="202A3D"/>
            </a:solidFill>
            <a:prstDash val="solid"/>
          </a:ln>
        </p:spPr>
      </p:sp>
      <p:sp>
        <p:nvSpPr>
          <p:cNvPr id="20" name="Stat"/>
          <p:cNvSpPr txBox="1"/>
          <p:nvPr/>
        </p:nvSpPr>
        <p:spPr>
          <a:xfrm>
            <a:off x="594360" y="2450592"/>
            <a:ext cx="1645920" cy="731520"/>
          </a:xfrm>
          <a:prstGeom prst="rect">
            <a:avLst/>
          </a:prstGeom>
          <a:noFill/>
          <a:ln/>
        </p:spPr>
        <p:txBody>
          <a:bodyPr wrap="square" lIns="0" tIns="0" rIns="0" bIns="0" rtlCol="0" anchor="ctr"/>
          <a:lstStyle/>
          <a:p>
            <a:pPr indent="0" marL="0">
              <a:buNone/>
            </a:pPr>
            <a:r>
              <a:rPr lang="en-US" sz="2800" b="1" dirty="0">
                <a:solidFill>
                  <a:srgbClr val="FFCC33"/>
                </a:solidFill>
              </a:rPr>
              <a:t>141 / 180</a:t>
            </a:r>
            <a:endParaRPr lang="en-US" sz="2800" dirty="0"/>
          </a:p>
        </p:txBody>
      </p:sp>
      <p:sp>
        <p:nvSpPr>
          <p:cNvPr id="21" name="Stat label"/>
          <p:cNvSpPr txBox="1"/>
          <p:nvPr/>
        </p:nvSpPr>
        <p:spPr>
          <a:xfrm>
            <a:off x="594360" y="3182112"/>
            <a:ext cx="1645920" cy="484632"/>
          </a:xfrm>
          <a:prstGeom prst="rect">
            <a:avLst/>
          </a:prstGeom>
          <a:noFill/>
          <a:ln/>
        </p:spPr>
        <p:txBody>
          <a:bodyPr wrap="square" lIns="0" tIns="0" rIns="0" bIns="0" rtlCol="0" anchor="t"/>
          <a:lstStyle/>
          <a:p>
            <a:pPr indent="0" marL="0">
              <a:buNone/>
            </a:pPr>
            <a:r>
              <a:rPr lang="en-US" sz="1100" dirty="0">
                <a:solidFill>
                  <a:srgbClr val="AEB6C4"/>
                </a:solidFill>
              </a:rPr>
              <a:t>highway captions mention a vehicle colour</a:t>
            </a:r>
            <a:endParaRPr lang="en-US" sz="1100" dirty="0"/>
          </a:p>
        </p:txBody>
      </p:sp>
      <p:sp>
        <p:nvSpPr>
          <p:cNvPr id="22" name="Card"/>
          <p:cNvSpPr/>
          <p:nvPr/>
        </p:nvSpPr>
        <p:spPr>
          <a:xfrm>
            <a:off x="2560320" y="2377440"/>
            <a:ext cx="1920240" cy="1325880"/>
          </a:xfrm>
          <a:prstGeom prst="roundRect">
            <a:avLst>
              <a:gd name="adj" fmla="val 5517"/>
            </a:avLst>
          </a:prstGeom>
          <a:solidFill>
            <a:srgbClr val="121826"/>
          </a:solidFill>
          <a:ln w="9525">
            <a:solidFill>
              <a:srgbClr val="202A3D"/>
            </a:solidFill>
            <a:prstDash val="solid"/>
          </a:ln>
        </p:spPr>
      </p:sp>
      <p:sp>
        <p:nvSpPr>
          <p:cNvPr id="23" name="Stat"/>
          <p:cNvSpPr txBox="1"/>
          <p:nvPr/>
        </p:nvSpPr>
        <p:spPr>
          <a:xfrm>
            <a:off x="2697480" y="2450592"/>
            <a:ext cx="1645920" cy="731520"/>
          </a:xfrm>
          <a:prstGeom prst="rect">
            <a:avLst/>
          </a:prstGeom>
          <a:noFill/>
          <a:ln/>
        </p:spPr>
        <p:txBody>
          <a:bodyPr wrap="square" lIns="0" tIns="0" rIns="0" bIns="0" rtlCol="0" anchor="ctr"/>
          <a:lstStyle/>
          <a:p>
            <a:pPr indent="0" marL="0">
              <a:buNone/>
            </a:pPr>
            <a:r>
              <a:rPr lang="en-US" sz="2800" b="1" dirty="0">
                <a:solidFill>
                  <a:srgbClr val="AEB6C4"/>
                </a:solidFill>
              </a:rPr>
              <a:t>48 / 180</a:t>
            </a:r>
            <a:endParaRPr lang="en-US" sz="2800" dirty="0"/>
          </a:p>
        </p:txBody>
      </p:sp>
      <p:sp>
        <p:nvSpPr>
          <p:cNvPr id="24" name="Stat label"/>
          <p:cNvSpPr txBox="1"/>
          <p:nvPr/>
        </p:nvSpPr>
        <p:spPr>
          <a:xfrm>
            <a:off x="2697480" y="3182112"/>
            <a:ext cx="1645920" cy="484632"/>
          </a:xfrm>
          <a:prstGeom prst="rect">
            <a:avLst/>
          </a:prstGeom>
          <a:noFill/>
          <a:ln/>
        </p:spPr>
        <p:txBody>
          <a:bodyPr wrap="square" lIns="0" tIns="0" rIns="0" bIns="0" rtlCol="0" anchor="t"/>
          <a:lstStyle/>
          <a:p>
            <a:pPr indent="0" marL="0">
              <a:buNone/>
            </a:pPr>
            <a:r>
              <a:rPr lang="en-US" sz="1100" dirty="0">
                <a:solidFill>
                  <a:srgbClr val="AEB6C4"/>
                </a:solidFill>
              </a:rPr>
              <a:t>say which lane the vehicle is in</a:t>
            </a:r>
            <a:endParaRPr lang="en-US" sz="1100" dirty="0"/>
          </a:p>
        </p:txBody>
      </p:sp>
      <p:sp>
        <p:nvSpPr>
          <p:cNvPr id="25" name="Card"/>
          <p:cNvSpPr/>
          <p:nvPr/>
        </p:nvSpPr>
        <p:spPr>
          <a:xfrm>
            <a:off x="4663440" y="2377440"/>
            <a:ext cx="1920240" cy="1325880"/>
          </a:xfrm>
          <a:prstGeom prst="roundRect">
            <a:avLst>
              <a:gd name="adj" fmla="val 5517"/>
            </a:avLst>
          </a:prstGeom>
          <a:solidFill>
            <a:srgbClr val="121826"/>
          </a:solidFill>
          <a:ln w="9525">
            <a:solidFill>
              <a:srgbClr val="202A3D"/>
            </a:solidFill>
            <a:prstDash val="solid"/>
          </a:ln>
        </p:spPr>
      </p:sp>
      <p:sp>
        <p:nvSpPr>
          <p:cNvPr id="26" name="Stat"/>
          <p:cNvSpPr txBox="1"/>
          <p:nvPr/>
        </p:nvSpPr>
        <p:spPr>
          <a:xfrm>
            <a:off x="4800600" y="2450592"/>
            <a:ext cx="1645920" cy="731520"/>
          </a:xfrm>
          <a:prstGeom prst="rect">
            <a:avLst/>
          </a:prstGeom>
          <a:noFill/>
          <a:ln/>
        </p:spPr>
        <p:txBody>
          <a:bodyPr wrap="square" lIns="0" tIns="0" rIns="0" bIns="0" rtlCol="0" anchor="ctr"/>
          <a:lstStyle/>
          <a:p>
            <a:pPr indent="0" marL="0">
              <a:buNone/>
            </a:pPr>
            <a:r>
              <a:rPr lang="en-US" sz="2800" b="1" dirty="0">
                <a:solidFill>
                  <a:srgbClr val="FF5A5F"/>
                </a:solidFill>
              </a:rPr>
              <a:t>0 / 180</a:t>
            </a:r>
            <a:endParaRPr lang="en-US" sz="2800" dirty="0"/>
          </a:p>
        </p:txBody>
      </p:sp>
      <p:sp>
        <p:nvSpPr>
          <p:cNvPr id="27" name="Stat label"/>
          <p:cNvSpPr txBox="1"/>
          <p:nvPr/>
        </p:nvSpPr>
        <p:spPr>
          <a:xfrm>
            <a:off x="4800600" y="3182112"/>
            <a:ext cx="1645920" cy="484632"/>
          </a:xfrm>
          <a:prstGeom prst="rect">
            <a:avLst/>
          </a:prstGeom>
          <a:noFill/>
          <a:ln/>
        </p:spPr>
        <p:txBody>
          <a:bodyPr wrap="square" lIns="0" tIns="0" rIns="0" bIns="0" rtlCol="0" anchor="t"/>
          <a:lstStyle/>
          <a:p>
            <a:pPr indent="0" marL="0">
              <a:buNone/>
            </a:pPr>
            <a:r>
              <a:rPr lang="en-US" sz="1100" dirty="0">
                <a:solidFill>
                  <a:srgbClr val="AEB6C4"/>
                </a:solidFill>
              </a:rPr>
              <a:t>give a lane number</a:t>
            </a:r>
            <a:endParaRPr lang="en-US" sz="1100" dirty="0"/>
          </a:p>
        </p:txBody>
      </p:sp>
      <p:sp>
        <p:nvSpPr>
          <p:cNvPr id="28" name="Query build"/>
          <p:cNvSpPr txBox="1"/>
          <p:nvPr/>
        </p:nvSpPr>
        <p:spPr>
          <a:xfrm>
            <a:off x="6812280" y="2377440"/>
            <a:ext cx="1920240" cy="1325880"/>
          </a:xfrm>
          <a:prstGeom prst="rect">
            <a:avLst/>
          </a:prstGeom>
          <a:noFill/>
          <a:ln/>
        </p:spPr>
        <p:txBody>
          <a:bodyPr wrap="square" lIns="0" tIns="0" rIns="0" bIns="0" rtlCol="0" anchor="t"/>
          <a:lstStyle/>
          <a:p>
            <a:pPr indent="0" marL="0">
              <a:buNone/>
            </a:pPr>
            <a:r>
              <a:rPr lang="en-US" sz="1000" b="1" dirty="0">
                <a:solidFill>
                  <a:srgbClr val="FFCC33"/>
                </a:solidFill>
                <a:latin typeface="Courier New" pitchFamily="34" charset="0"/>
                <a:ea typeface="Courier New" pitchFamily="34" charset="-122"/>
                <a:cs typeface="Courier New" pitchFamily="34" charset="-120"/>
              </a:rPr>
              <a:t>GET /caption → reasoning_content</a:t>
            </a:r>
            <a:endParaRPr lang="en-US" sz="1000" dirty="0"/>
          </a:p>
          <a:p>
            <a:pPr indent="0" marL="0">
              <a:buNone/>
            </a:pPr>
            <a:r>
              <a:rPr lang="en-US" sz="1000" dirty="0">
                <a:solidFill>
                  <a:srgbClr val="FFFFFF"/>
                </a:solidFill>
              </a:rPr>
              <a:t>The agent takes the colour word nearest the vehicle noun in the stored caption and builds the query: e.g. “white semi truck”.</a:t>
            </a:r>
            <a:endParaRPr lang="en-US" sz="1000" dirty="0"/>
          </a:p>
        </p:txBody>
      </p:sp>
      <p:sp>
        <p:nvSpPr>
          <p:cNvPr id="29" name="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600" b="1" dirty="0">
                <a:solidFill>
                  <a:srgbClr val="FFFFFF"/>
                </a:solidFill>
              </a:rPr>
              <a:t>Colour is in the archive. Lane numbers are not — that gap is what slide 8 closes.</a:t>
            </a:r>
            <a:endParaRPr lang="en-US" sz="16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MANHUNT</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One hybrid query across every camera</a:t>
            </a:r>
            <a:endParaRPr lang="en-US" sz="2800" dirty="0"/>
          </a:p>
        </p:txBody>
      </p:sp>
      <p:sp>
        <p:nvSpPr>
          <p:cNvPr id="4" name="Body"/>
          <p:cNvSpPr txBox="1"/>
          <p:nvPr/>
        </p:nvSpPr>
        <p:spPr>
          <a:xfrm>
            <a:off x="457200" y="1188720"/>
            <a:ext cx="4572000" cy="22860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FFFFFF"/>
                </a:solidFill>
              </a:rPr>
              <a:t>POST /investigate → one /search call: caption vectors + visual vectors (cosine distance), text weight 0.60, filter camera_id = i24_cam-1.</a:t>
            </a:r>
            <a:endParaRPr lang="en-US" sz="1300" dirty="0"/>
          </a:p>
          <a:p>
            <a:pPr marL="177800" indent="-177800">
              <a:spcAft>
                <a:spcPts val="800"/>
              </a:spcAft>
              <a:buSzPct val="100000"/>
              <a:buChar char="•"/>
            </a:pPr>
            <a:r>
              <a:rPr lang="en-US" sz="1300" dirty="0">
                <a:solidFill>
                  <a:srgbClr val="FFFFFF"/>
                </a:solidFill>
              </a:rPr>
              <a:t>Results grouped per camera in a corridor view: p1c1 | p1c2 | p1c3. Strongest sighting on another camera is highlighted; click any to watch that segment.</a:t>
            </a:r>
            <a:endParaRPr lang="en-US" sz="1300" dirty="0"/>
          </a:p>
          <a:p>
            <a:pPr marL="177800" indent="-177800">
              <a:spcAft>
                <a:spcPts val="800"/>
              </a:spcAft>
              <a:buSzPct val="100000"/>
              <a:buChar char="•"/>
            </a:pPr>
            <a:r>
              <a:rPr lang="en-US" sz="1300" dirty="0">
                <a:solidFill>
                  <a:srgbClr val="FFFFFF"/>
                </a:solidFill>
              </a:rPr>
              <a:t>Test: “white semi truck” on i24_cam-1 → 10 hits, every one contains “white”.</a:t>
            </a:r>
            <a:endParaRPr lang="en-US" sz="1300" dirty="0"/>
          </a:p>
        </p:txBody>
      </p:sp>
      <p:sp>
        <p:nvSpPr>
          <p:cNvPr id="5" name="Code"/>
          <p:cNvSpPr txBox="1"/>
          <p:nvPr/>
        </p:nvSpPr>
        <p:spPr>
          <a:xfrm>
            <a:off x="457200" y="3611880"/>
            <a:ext cx="4572000" cy="100584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SELECT ... FROM "team-x-vss-db/vss-schema"."vss-collection"</a:t>
            </a:r>
            <a:endParaRPr lang="en-US" sz="900" dirty="0"/>
          </a:p>
          <a:p>
            <a:pPr indent="0" marL="0">
              <a:buNone/>
            </a:pPr>
            <a:r>
              <a:rPr lang="en-US" sz="900" dirty="0">
                <a:solidFill>
                  <a:srgbClr val="FFCC33"/>
                </a:solidFill>
                <a:latin typeface="Courier New" pitchFamily="34" charset="0"/>
                <a:ea typeface="Courier New" pitchFamily="34" charset="-122"/>
                <a:cs typeface="Courier New" pitchFamily="34" charset="-120"/>
              </a:rPr>
              <a:t>WHERE camera_id = 'i24_cam-1' ORDER BY distance LIMIT 100</a:t>
            </a:r>
            <a:endParaRPr lang="en-US" sz="900" dirty="0"/>
          </a:p>
          <a:p>
            <a:pPr indent="0" marL="0">
              <a:buNone/>
            </a:pPr>
            <a:r>
              <a:rPr lang="en-US" sz="900" dirty="0">
                <a:solidFill>
                  <a:srgbClr val="FFCC33"/>
                </a:solidFill>
                <a:latin typeface="Courier New" pitchFamily="34" charset="0"/>
                <a:ea typeface="Courier New" pitchFamily="34" charset="-122"/>
                <a:cs typeface="Courier New" pitchFamily="34" charset="-120"/>
              </a:rPr>
              <a:t>-- abridged (mock-mode shape); the live backend returns the real SQL with its two vector branches + ACL filter and the page shows it</a:t>
            </a:r>
            <a:endParaRPr lang="en-US" sz="900" dirty="0"/>
          </a:p>
        </p:txBody>
      </p:sp>
      <p:pic>
        <p:nvPicPr>
          <p:cNvPr id="6" name="Strongest sighting toast" descr="/private/tmp/claude-501/-Users-moorthy-Downloads-Projects-Vast-builders-challenge/7304a5c7-b157-4453-b023-e17c033f4df9/scratchpad/deck/img/manhunt_toast.jpg">    </p:cNvPr>
          <p:cNvPicPr>
            <a:picLocks noChangeAspect="1"/>
          </p:cNvPicPr>
          <p:nvPr/>
        </p:nvPicPr>
        <p:blipFill>
          <a:blip r:embed="rId1"/>
          <a:stretch>
            <a:fillRect/>
          </a:stretch>
        </p:blipFill>
        <p:spPr>
          <a:xfrm>
            <a:off x="5303520" y="1188720"/>
            <a:ext cx="3383280" cy="2295144"/>
          </a:xfrm>
          <a:prstGeom prst="rect">
            <a:avLst/>
          </a:prstGeom>
        </p:spPr>
      </p:pic>
      <p:sp>
        <p:nvSpPr>
          <p:cNvPr id="7" name="Caption"/>
          <p:cNvSpPr txBox="1"/>
          <p:nvPr/>
        </p:nvSpPr>
        <p:spPr>
          <a:xfrm>
            <a:off x="5303520" y="3520440"/>
            <a:ext cx="3383280" cy="274320"/>
          </a:xfrm>
          <a:prstGeom prst="rect">
            <a:avLst/>
          </a:prstGeom>
          <a:noFill/>
          <a:ln/>
        </p:spPr>
        <p:txBody>
          <a:bodyPr wrap="square" lIns="0" tIns="0" rIns="0" bIns="0" rtlCol="0" anchor="ctr"/>
          <a:lstStyle/>
          <a:p>
            <a:pPr indent="0" marL="0">
              <a:buNone/>
            </a:pPr>
            <a:r>
              <a:rPr lang="en-US" sz="900" i="1" dirty="0">
                <a:solidFill>
                  <a:srgbClr val="AEB6C4"/>
                </a:solidFill>
              </a:rPr>
              <a:t>“strongest sighting on scene1_p1c3 (score 0.41)” — captured in HOP24_MOCK mode (synthetic footage)</a:t>
            </a:r>
            <a:endParaRPr lang="en-US" sz="900" dirty="0"/>
          </a:p>
        </p:txBody>
      </p:sp>
      <p:sp>
        <p:nvSpPr>
          <p:cNvPr id="8" name="Limit"/>
          <p:cNvSpPr txBox="1"/>
          <p:nvPr/>
        </p:nvSpPr>
        <p:spPr>
          <a:xfrm>
            <a:off x="5303520" y="3931920"/>
            <a:ext cx="3383280" cy="685800"/>
          </a:xfrm>
          <a:prstGeom prst="rect">
            <a:avLst/>
          </a:prstGeom>
          <a:noFill/>
          <a:ln/>
        </p:spPr>
        <p:txBody>
          <a:bodyPr wrap="square" lIns="0" tIns="0" rIns="0" bIns="0" rtlCol="0" anchor="t"/>
          <a:lstStyle/>
          <a:p>
            <a:pPr indent="0" marL="0">
              <a:buNone/>
            </a:pPr>
            <a:r>
              <a:rPr lang="en-US" sz="1100" i="1" dirty="0">
                <a:solidFill>
                  <a:srgbClr val="AEB6C4"/>
                </a:solidFill>
              </a:rPr>
              <a:t>Honest: this is description-similar search, not re-identification. Hits are candidate sightings.</a:t>
            </a:r>
            <a:endParaRPr lang="en-US" sz="11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ACTION</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800" b="1" dirty="0">
                <a:solidFill>
                  <a:srgbClr val="FFFFFF"/>
                </a:solidFill>
              </a:rPr>
              <a:t>Incident report generated and filed</a:t>
            </a:r>
            <a:endParaRPr lang="en-US" sz="2800" dirty="0"/>
          </a:p>
        </p:txBody>
      </p:sp>
      <p:sp>
        <p:nvSpPr>
          <p:cNvPr id="4" name="Body"/>
          <p:cNvSpPr txBox="1"/>
          <p:nvPr/>
        </p:nvSpPr>
        <p:spPr>
          <a:xfrm>
            <a:off x="457200" y="1188720"/>
            <a:ext cx="4206240" cy="2743200"/>
          </a:xfrm>
          <a:prstGeom prst="rect">
            <a:avLst/>
          </a:prstGeom>
          <a:noFill/>
          <a:ln/>
        </p:spPr>
        <p:txBody>
          <a:bodyPr wrap="square" lIns="0" tIns="0" rIns="0" bIns="0" rtlCol="0" anchor="t"/>
          <a:lstStyle/>
          <a:p>
            <a:pPr marL="177800" indent="-177800">
              <a:spcAft>
                <a:spcPts val="800"/>
              </a:spcAft>
              <a:buSzPct val="100000"/>
              <a:buChar char="•"/>
            </a:pPr>
            <a:r>
              <a:rPr lang="en-US" sz="1300" dirty="0">
                <a:solidFill>
                  <a:srgbClr val="FFFFFF"/>
                </a:solidFill>
              </a:rPr>
              <a:t>Event, camera and time, YOLO detection with bbox, the archive description, the query issued, sightings on other cameras, last seen, recommended action.</a:t>
            </a:r>
            <a:endParaRPr lang="en-US" sz="1300" dirty="0"/>
          </a:p>
          <a:p>
            <a:pPr marL="177800" indent="-177800">
              <a:spcAft>
                <a:spcPts val="800"/>
              </a:spcAft>
              <a:buSzPct val="100000"/>
              <a:buChar char="•"/>
            </a:pPr>
            <a:r>
              <a:rPr lang="en-US" sz="1300" dirty="0">
                <a:solidFill>
                  <a:srgbClr val="FFFFFF"/>
                </a:solidFill>
              </a:rPr>
              <a:t>Evidence frame and the VastDB SQL attached.</a:t>
            </a:r>
            <a:endParaRPr lang="en-US" sz="1300" dirty="0"/>
          </a:p>
          <a:p>
            <a:pPr marL="177800" indent="-177800">
              <a:spcAft>
                <a:spcPts val="800"/>
              </a:spcAft>
              <a:buSzPct val="100000"/>
              <a:buChar char="•"/>
            </a:pPr>
            <a:r>
              <a:rPr lang="en-US" sz="1300" dirty="0">
                <a:solidFill>
                  <a:srgbClr val="FFFFFF"/>
                </a:solidFill>
              </a:rPr>
              <a:t>Download as HTML · Copy as text · Print.</a:t>
            </a:r>
            <a:endParaRPr lang="en-US" sz="1300" dirty="0"/>
          </a:p>
          <a:p>
            <a:pPr marL="177800" indent="-177800">
              <a:spcAft>
                <a:spcPts val="800"/>
              </a:spcAft>
              <a:buSzPct val="100000"/>
              <a:buChar char="•"/>
            </a:pPr>
            <a:r>
              <a:rPr lang="en-US" sz="1300" dirty="0">
                <a:solidFill>
                  <a:srgbClr val="FFFFFF"/>
                </a:solidFill>
              </a:rPr>
              <a:t>Generated client-side from what the agent already fetched — no extra model call.</a:t>
            </a:r>
            <a:endParaRPr lang="en-US" sz="1300" dirty="0"/>
          </a:p>
        </p:txBody>
      </p:sp>
      <p:sp>
        <p:nvSpPr>
          <p:cNvPr id="5" name="Code"/>
          <p:cNvSpPr txBox="1"/>
          <p:nvPr/>
        </p:nvSpPr>
        <p:spPr>
          <a:xfrm>
            <a:off x="457200" y="4023360"/>
            <a:ext cx="4206240" cy="54864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INCIDENT REPORT HOP24-2610022143  ·  source archive: VastDB vss-collection  ·  corridor I-24 Nashville</a:t>
            </a:r>
            <a:endParaRPr lang="en-US" sz="900" dirty="0"/>
          </a:p>
        </p:txBody>
      </p:sp>
      <p:pic>
        <p:nvPicPr>
          <p:cNvPr id="6" name="Incident report modal" descr="/private/tmp/claude-501/-Users-moorthy-Downloads-Projects-Vast-builders-challenge/7304a5c7-b157-4453-b023-e17c033f4df9/scratchpad/deck/img/report_modal.jpg">    </p:cNvPr>
          <p:cNvPicPr>
            <a:picLocks noChangeAspect="1"/>
          </p:cNvPicPr>
          <p:nvPr/>
        </p:nvPicPr>
        <p:blipFill>
          <a:blip r:embed="rId1"/>
          <a:stretch>
            <a:fillRect/>
          </a:stretch>
        </p:blipFill>
        <p:spPr>
          <a:xfrm>
            <a:off x="5120640" y="960120"/>
            <a:ext cx="2743200" cy="3621024"/>
          </a:xfrm>
          <a:prstGeom prst="rect">
            <a:avLst/>
          </a:prstGeom>
        </p:spPr>
      </p:pic>
      <p:sp>
        <p:nvSpPr>
          <p:cNvPr id="7" name="Caption"/>
          <p:cNvSpPr txBox="1"/>
          <p:nvPr/>
        </p:nvSpPr>
        <p:spPr>
          <a:xfrm>
            <a:off x="7955280" y="4297680"/>
            <a:ext cx="731520" cy="274320"/>
          </a:xfrm>
          <a:prstGeom prst="rect">
            <a:avLst/>
          </a:prstGeom>
          <a:noFill/>
          <a:ln/>
        </p:spPr>
        <p:txBody>
          <a:bodyPr wrap="square" lIns="0" tIns="0" rIns="0" bIns="0" rtlCol="0" anchor="ctr"/>
          <a:lstStyle/>
          <a:p>
            <a:pPr indent="0" marL="0">
              <a:buNone/>
            </a:pPr>
            <a:r>
              <a:rPr lang="en-US" sz="900" i="1" dirty="0">
                <a:solidFill>
                  <a:srgbClr val="AEB6C4"/>
                </a:solidFill>
              </a:rPr>
              <a:t>mock-mode capture</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SHARPEN THE ARCHIVE</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The prompt decides what gets indexed</a:t>
            </a:r>
            <a:endParaRPr lang="en-US" sz="2800" dirty="0"/>
          </a:p>
        </p:txBody>
      </p:sp>
      <p:sp>
        <p:nvSpPr>
          <p:cNvPr id="4" name="Card"/>
          <p:cNvSpPr/>
          <p:nvPr/>
        </p:nvSpPr>
        <p:spPr>
          <a:xfrm>
            <a:off x="457200" y="1188720"/>
            <a:ext cx="3931920" cy="2103120"/>
          </a:xfrm>
          <a:prstGeom prst="roundRect">
            <a:avLst>
              <a:gd name="adj" fmla="val 3478"/>
            </a:avLst>
          </a:prstGeom>
          <a:solidFill>
            <a:srgbClr val="121826"/>
          </a:solidFill>
          <a:ln w="9525">
            <a:solidFill>
              <a:srgbClr val="202A3D"/>
            </a:solidFill>
            <a:prstDash val="solid"/>
          </a:ln>
        </p:spPr>
      </p:sp>
      <p:sp>
        <p:nvSpPr>
          <p:cNvPr id="5" name="Before head"/>
          <p:cNvSpPr txBox="1"/>
          <p:nvPr/>
        </p:nvSpPr>
        <p:spPr>
          <a:xfrm>
            <a:off x="640080" y="1280160"/>
            <a:ext cx="3566160" cy="274320"/>
          </a:xfrm>
          <a:prstGeom prst="rect">
            <a:avLst/>
          </a:prstGeom>
          <a:noFill/>
          <a:ln/>
        </p:spPr>
        <p:txBody>
          <a:bodyPr wrap="square" lIns="0" tIns="0" rIns="0" bIns="0" rtlCol="0" anchor="ctr"/>
          <a:lstStyle/>
          <a:p>
            <a:pPr indent="0" marL="0">
              <a:buNone/>
            </a:pPr>
            <a:r>
              <a:rPr lang="en-US" sz="1100" b="1" dirty="0">
                <a:solidFill>
                  <a:srgbClr val="AEB6C4"/>
                </a:solidFill>
              </a:rPr>
              <a:t>BEFORE · stock prompt</a:t>
            </a:r>
            <a:endParaRPr lang="en-US" sz="1100" dirty="0"/>
          </a:p>
        </p:txBody>
      </p:sp>
      <p:sp>
        <p:nvSpPr>
          <p:cNvPr id="6" name="Before body"/>
          <p:cNvSpPr txBox="1"/>
          <p:nvPr/>
        </p:nvSpPr>
        <p:spPr>
          <a:xfrm>
            <a:off x="640080" y="1600200"/>
            <a:ext cx="3566160" cy="1828800"/>
          </a:xfrm>
          <a:prstGeom prst="rect">
            <a:avLst/>
          </a:prstGeom>
          <a:noFill/>
          <a:ln/>
        </p:spPr>
        <p:txBody>
          <a:bodyPr wrap="square" lIns="0" tIns="0" rIns="0" bIns="0" rtlCol="0" anchor="t"/>
          <a:lstStyle/>
          <a:p>
            <a:pPr indent="0" marL="0">
              <a:spcAft>
                <a:spcPts val="600"/>
              </a:spcAft>
              <a:buNone/>
            </a:pPr>
            <a:r>
              <a:rPr lang="en-US" sz="1300" b="1" dirty="0">
                <a:solidFill>
                  <a:srgbClr val="FFCC33"/>
                </a:solidFill>
              </a:rPr>
              <a:t>141 / 180</a:t>
            </a:r>
            <a:pPr indent="0" marL="0">
              <a:spcAft>
                <a:spcPts val="600"/>
              </a:spcAft>
              <a:buNone/>
            </a:pPr>
            <a:r>
              <a:rPr lang="en-US" sz="1300" dirty="0">
                <a:solidFill>
                  <a:srgbClr val="FFFFFF"/>
                </a:solidFill>
              </a:rPr>
              <a:t>  captions name a vehicle colour</a:t>
            </a:r>
            <a:endParaRPr lang="en-US" sz="1300" dirty="0"/>
          </a:p>
          <a:p>
            <a:pPr indent="0" marL="0">
              <a:spcAft>
                <a:spcPts val="600"/>
              </a:spcAft>
              <a:buNone/>
            </a:pPr>
            <a:r>
              <a:rPr lang="en-US" sz="1300" b="1" dirty="0">
                <a:solidFill>
                  <a:srgbClr val="FFCC33"/>
                </a:solidFill>
              </a:rPr>
              <a:t>48 / 180</a:t>
            </a:r>
            <a:pPr indent="0" marL="0">
              <a:spcAft>
                <a:spcPts val="600"/>
              </a:spcAft>
              <a:buNone/>
            </a:pPr>
            <a:r>
              <a:rPr lang="en-US" sz="1300" dirty="0">
                <a:solidFill>
                  <a:srgbClr val="FFFFFF"/>
                </a:solidFill>
              </a:rPr>
              <a:t>  say which lane</a:t>
            </a:r>
            <a:endParaRPr lang="en-US" sz="1300" dirty="0"/>
          </a:p>
          <a:p>
            <a:pPr indent="0" marL="0">
              <a:spcAft>
                <a:spcPts val="600"/>
              </a:spcAft>
              <a:buNone/>
            </a:pPr>
            <a:r>
              <a:rPr lang="en-US" sz="1300" b="1" dirty="0">
                <a:solidFill>
                  <a:srgbClr val="FF5A5F"/>
                </a:solidFill>
              </a:rPr>
              <a:t>0 / 180</a:t>
            </a:r>
            <a:pPr indent="0" marL="0">
              <a:spcAft>
                <a:spcPts val="600"/>
              </a:spcAft>
              <a:buNone/>
            </a:pPr>
            <a:r>
              <a:rPr lang="en-US" sz="1300" dirty="0">
                <a:solidFill>
                  <a:srgbClr val="FFFFFF"/>
                </a:solidFill>
              </a:rPr>
              <a:t>  give a lane number</a:t>
            </a:r>
            <a:endParaRPr lang="en-US" sz="1300" dirty="0"/>
          </a:p>
          <a:p>
            <a:pPr indent="0" marL="0">
              <a:spcAft>
                <a:spcPts val="600"/>
              </a:spcAft>
              <a:buNone/>
            </a:pPr>
            <a:r>
              <a:rPr lang="en-US" sz="1300" i="1" dirty="0">
                <a:solidFill>
                  <a:srgbClr val="AEB6C4"/>
                </a:solidFill>
              </a:rPr>
              <a:t>“white semi truck” finds colour-similar segments, but cannot say lane 2 vs lane 4.</a:t>
            </a:r>
            <a:endParaRPr lang="en-US" sz="1300" dirty="0"/>
          </a:p>
        </p:txBody>
      </p:sp>
      <p:sp>
        <p:nvSpPr>
          <p:cNvPr id="7" name="Card"/>
          <p:cNvSpPr/>
          <p:nvPr/>
        </p:nvSpPr>
        <p:spPr>
          <a:xfrm>
            <a:off x="4754880" y="1188720"/>
            <a:ext cx="3931920" cy="2103120"/>
          </a:xfrm>
          <a:prstGeom prst="roundRect">
            <a:avLst>
              <a:gd name="adj" fmla="val 3478"/>
            </a:avLst>
          </a:prstGeom>
          <a:solidFill>
            <a:srgbClr val="1F2A1B"/>
          </a:solidFill>
          <a:ln w="9525">
            <a:solidFill>
              <a:srgbClr val="202A3D"/>
            </a:solidFill>
            <a:prstDash val="solid"/>
          </a:ln>
        </p:spPr>
      </p:sp>
      <p:sp>
        <p:nvSpPr>
          <p:cNvPr id="8" name="After head"/>
          <p:cNvSpPr txBox="1"/>
          <p:nvPr/>
        </p:nvSpPr>
        <p:spPr>
          <a:xfrm>
            <a:off x="4937760" y="1280160"/>
            <a:ext cx="3566160" cy="274320"/>
          </a:xfrm>
          <a:prstGeom prst="rect">
            <a:avLst/>
          </a:prstGeom>
          <a:noFill/>
          <a:ln/>
        </p:spPr>
        <p:txBody>
          <a:bodyPr wrap="square" lIns="0" tIns="0" rIns="0" bIns="0" rtlCol="0" anchor="ctr"/>
          <a:lstStyle/>
          <a:p>
            <a:pPr indent="0" marL="0">
              <a:buNone/>
            </a:pPr>
            <a:r>
              <a:rPr lang="en-US" sz="1100" b="1" dirty="0">
                <a:solidFill>
                  <a:srgbClr val="4CD38A"/>
                </a:solidFill>
              </a:rPr>
              <a:t>AFTER · investigator prompt (main.py)</a:t>
            </a:r>
            <a:endParaRPr lang="en-US" sz="1100" dirty="0"/>
          </a:p>
        </p:txBody>
      </p:sp>
      <p:sp>
        <p:nvSpPr>
          <p:cNvPr id="9" name="After body"/>
          <p:cNvSpPr txBox="1"/>
          <p:nvPr/>
        </p:nvSpPr>
        <p:spPr>
          <a:xfrm>
            <a:off x="4937760" y="1600200"/>
            <a:ext cx="3566160" cy="1828800"/>
          </a:xfrm>
          <a:prstGeom prst="rect">
            <a:avLst/>
          </a:prstGeom>
          <a:noFill/>
          <a:ln/>
        </p:spPr>
        <p:txBody>
          <a:bodyPr wrap="square" lIns="0" tIns="0" rIns="0" bIns="0" rtlCol="0" anchor="t"/>
          <a:lstStyle/>
          <a:p>
            <a:pPr indent="0" marL="0">
              <a:buNone/>
            </a:pPr>
            <a:r>
              <a:rPr lang="en-US" sz="1100" i="1" dirty="0">
                <a:solidFill>
                  <a:srgbClr val="FFFFFF"/>
                </a:solidFill>
              </a:rPr>
              <a:t>“For every vehicle give: type (sedan, SUV, pickup, van, semi-truck, box truck, bus), colour, lane number counted from the left shoulder, direction of travel, and distinguishing features (trailer, cargo, roof rack, markings). Note any vehicle changing lanes, braking, or passing close to another, with the time in seconds.”</a:t>
            </a:r>
            <a:endParaRPr lang="en-US" sz="1100" dirty="0"/>
          </a:p>
        </p:txBody>
      </p:sp>
      <p:sp>
        <p:nvSpPr>
          <p:cNvPr id="10" name="Card"/>
          <p:cNvSpPr/>
          <p:nvPr/>
        </p:nvSpPr>
        <p:spPr>
          <a:xfrm>
            <a:off x="457200" y="3566160"/>
            <a:ext cx="1920240" cy="685800"/>
          </a:xfrm>
          <a:prstGeom prst="roundRect">
            <a:avLst>
              <a:gd name="adj" fmla="val 10667"/>
            </a:avLst>
          </a:prstGeom>
          <a:solidFill>
            <a:srgbClr val="1B2333"/>
          </a:solidFill>
          <a:ln w="9525">
            <a:solidFill>
              <a:srgbClr val="202A3D"/>
            </a:solidFill>
            <a:prstDash val="solid"/>
          </a:ln>
        </p:spPr>
      </p:sp>
      <p:sp>
        <p:nvSpPr>
          <p:cNvPr id="11" name="Flow step"/>
          <p:cNvSpPr txBox="1"/>
          <p:nvPr/>
        </p:nvSpPr>
        <p:spPr>
          <a:xfrm>
            <a:off x="45720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POST /redescribe</a:t>
            </a:r>
            <a:endParaRPr lang="en-US" sz="1000" dirty="0"/>
          </a:p>
        </p:txBody>
      </p:sp>
      <p:sp>
        <p:nvSpPr>
          <p:cNvPr id="12" name="Card"/>
          <p:cNvSpPr/>
          <p:nvPr/>
        </p:nvSpPr>
        <p:spPr>
          <a:xfrm>
            <a:off x="2560320" y="3566160"/>
            <a:ext cx="1920240" cy="685800"/>
          </a:xfrm>
          <a:prstGeom prst="roundRect">
            <a:avLst>
              <a:gd name="adj" fmla="val 10667"/>
            </a:avLst>
          </a:prstGeom>
          <a:solidFill>
            <a:srgbClr val="1B2333"/>
          </a:solidFill>
          <a:ln w="9525">
            <a:solidFill>
              <a:srgbClr val="202A3D"/>
            </a:solidFill>
            <a:prstDash val="solid"/>
          </a:ln>
        </p:spPr>
      </p:sp>
      <p:sp>
        <p:nvSpPr>
          <p:cNvPr id="13" name="Flow step"/>
          <p:cNvSpPr txBox="1"/>
          <p:nvPr/>
        </p:nvSpPr>
        <p:spPr>
          <a:xfrm>
            <a:off x="256032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/dashboard/reingest</a:t>
            </a:r>
            <a:endParaRPr lang="en-US" sz="1000" dirty="0"/>
          </a:p>
          <a:p>
            <a:pPr algn="ctr" indent="0" marL="0">
              <a:buNone/>
            </a:pPr>
            <a:r>
              <a:rPr lang="en-US" sz="1000" dirty="0">
                <a:solidFill>
                  <a:srgbClr val="FFFFFF"/>
                </a:solidFill>
              </a:rPr>
              <a:t>custom prompt ≤ 800 chars</a:t>
            </a:r>
            <a:endParaRPr lang="en-US" sz="1000" dirty="0"/>
          </a:p>
        </p:txBody>
      </p:sp>
      <p:sp>
        <p:nvSpPr>
          <p:cNvPr id="14" name="Card"/>
          <p:cNvSpPr/>
          <p:nvPr/>
        </p:nvSpPr>
        <p:spPr>
          <a:xfrm>
            <a:off x="4663440" y="3566160"/>
            <a:ext cx="1920240" cy="685800"/>
          </a:xfrm>
          <a:prstGeom prst="roundRect">
            <a:avLst>
              <a:gd name="adj" fmla="val 10667"/>
            </a:avLst>
          </a:prstGeom>
          <a:solidFill>
            <a:srgbClr val="1B2333"/>
          </a:solidFill>
          <a:ln w="9525">
            <a:solidFill>
              <a:srgbClr val="202A3D"/>
            </a:solidFill>
            <a:prstDash val="solid"/>
          </a:ln>
        </p:spPr>
      </p:sp>
      <p:sp>
        <p:nvSpPr>
          <p:cNvPr id="15" name="Flow step"/>
          <p:cNvSpPr txBox="1"/>
          <p:nvPr/>
        </p:nvSpPr>
        <p:spPr>
          <a:xfrm>
            <a:off x="4663440" y="3566160"/>
            <a:ext cx="1920240" cy="685800"/>
          </a:xfrm>
          <a:prstGeom prst="rect">
            <a:avLst/>
          </a:prstGeom>
          <a:noFill/>
          <a:ln/>
        </p:spPr>
        <p:txBody>
          <a:bodyPr wrap="square" lIns="508" tIns="508" rIns="508" bIns="508" rtlCol="0" anchor="ctr"/>
          <a:lstStyle/>
          <a:p>
            <a:pPr algn="ctr" indent="0" marL="0">
              <a:buNone/>
            </a:pPr>
            <a:r>
              <a:rPr lang="en-US" sz="1000" dirty="0">
                <a:solidFill>
                  <a:srgbClr val="FFFFFF"/>
                </a:solidFill>
              </a:rPr>
              <a:t>pipeline re-describes</a:t>
            </a:r>
            <a:endParaRPr lang="en-US" sz="1000" dirty="0"/>
          </a:p>
          <a:p>
            <a:pPr algn="ctr" indent="0" marL="0">
              <a:buNone/>
            </a:pPr>
            <a:r>
              <a:rPr lang="en-US" sz="1000" dirty="0">
                <a:solidFill>
                  <a:srgbClr val="FFFFFF"/>
                </a:solidFill>
              </a:rPr>
              <a:t>(takes minutes)</a:t>
            </a:r>
            <a:endParaRPr lang="en-US" sz="1000" dirty="0"/>
          </a:p>
        </p:txBody>
      </p:sp>
      <p:sp>
        <p:nvSpPr>
          <p:cNvPr id="16" name="Card"/>
          <p:cNvSpPr/>
          <p:nvPr/>
        </p:nvSpPr>
        <p:spPr>
          <a:xfrm>
            <a:off x="6766560" y="3566160"/>
            <a:ext cx="1920240" cy="685800"/>
          </a:xfrm>
          <a:prstGeom prst="roundRect">
            <a:avLst>
              <a:gd name="adj" fmla="val 10667"/>
            </a:avLst>
          </a:prstGeom>
          <a:solidFill>
            <a:srgbClr val="1F2A1B"/>
          </a:solidFill>
          <a:ln w="9525">
            <a:solidFill>
              <a:srgbClr val="202A3D"/>
            </a:solidFill>
            <a:prstDash val="solid"/>
          </a:ln>
        </p:spPr>
      </p:sp>
      <p:sp>
        <p:nvSpPr>
          <p:cNvPr id="17" name="Flow step"/>
          <p:cNvSpPr txBox="1"/>
          <p:nvPr/>
        </p:nvSpPr>
        <p:spPr>
          <a:xfrm>
            <a:off x="6766560" y="3566160"/>
            <a:ext cx="1920240" cy="685800"/>
          </a:xfrm>
          <a:prstGeom prst="rect">
            <a:avLst/>
          </a:prstGeom>
          <a:noFill/>
          <a:ln/>
        </p:spPr>
        <p:txBody>
          <a:bodyPr wrap="square" lIns="508" tIns="508" rIns="508" bIns="508" rtlCol="0" anchor="ctr"/>
          <a:lstStyle/>
          <a:p>
            <a:pPr algn="ctr" indent="0" marL="0">
              <a:buNone/>
            </a:pPr>
            <a:r>
              <a:rPr lang="en-US" sz="1000" b="1" dirty="0">
                <a:solidFill>
                  <a:srgbClr val="4CD38A"/>
                </a:solidFill>
              </a:rPr>
              <a:t>re-read caption →</a:t>
            </a:r>
            <a:endParaRPr lang="en-US" sz="1000" dirty="0"/>
          </a:p>
          <a:p>
            <a:pPr algn="ctr" indent="0" marL="0">
              <a:buNone/>
            </a:pPr>
            <a:r>
              <a:rPr lang="en-US" sz="1000" b="1" dirty="0">
                <a:solidFill>
                  <a:srgbClr val="4CD38A"/>
                </a:solidFill>
              </a:rPr>
              <a:t>next search is sharper</a:t>
            </a:r>
            <a:endParaRPr lang="en-US" sz="1000" dirty="0"/>
          </a:p>
        </p:txBody>
      </p:sp>
      <p:sp>
        <p:nvSpPr>
          <p:cNvPr id="18" name="Caption"/>
          <p:cNvSpPr txBox="1"/>
          <p:nvPr/>
        </p:nvSpPr>
        <p:spPr>
          <a:xfrm>
            <a:off x="457200" y="4389120"/>
            <a:ext cx="8229600" cy="274320"/>
          </a:xfrm>
          <a:prstGeom prst="rect">
            <a:avLst/>
          </a:prstGeom>
          <a:noFill/>
          <a:ln/>
        </p:spPr>
        <p:txBody>
          <a:bodyPr wrap="square" lIns="0" tIns="0" rIns="0" bIns="0" rtlCol="0" anchor="ctr"/>
          <a:lstStyle/>
          <a:p>
            <a:pPr indent="0" marL="0">
              <a:buNone/>
            </a:pPr>
            <a:r>
              <a:rPr lang="en-US" sz="900" i="1" dirty="0">
                <a:solidFill>
                  <a:srgbClr val="AEB6C4"/>
                </a:solidFill>
              </a:rPr>
              <a:t>Honest: re-describe runs through the real DataEngine pipeline and takes minutes, so it is pre-run before the demo.</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AUTOPILOT</a:t>
            </a:r>
            <a:endParaRPr lang="en-US" sz="1000" dirty="0"/>
          </a:p>
        </p:txBody>
      </p:sp>
      <p:sp>
        <p:nvSpPr>
          <p:cNvPr id="3" name="Title"/>
          <p:cNvSpPr txBox="1"/>
          <p:nvPr/>
        </p:nvSpPr>
        <p:spPr>
          <a:xfrm>
            <a:off x="457200" y="365760"/>
            <a:ext cx="8412480" cy="548640"/>
          </a:xfrm>
          <a:prstGeom prst="rect">
            <a:avLst/>
          </a:prstGeom>
          <a:noFill/>
          <a:ln/>
        </p:spPr>
        <p:txBody>
          <a:bodyPr wrap="square" lIns="0" tIns="0" rIns="0" bIns="0" rtlCol="0" anchor="ctr"/>
          <a:lstStyle/>
          <a:p>
            <a:pPr indent="0" marL="0">
              <a:buNone/>
            </a:pPr>
            <a:r>
              <a:rPr lang="en-US" sz="2600" b="1" dirty="0">
                <a:solidFill>
                  <a:srgbClr val="FFFFFF"/>
                </a:solidFill>
              </a:rPr>
              <a:t>A learned policy crosses on its own — no peeking</a:t>
            </a:r>
            <a:endParaRPr lang="en-US" sz="2600" dirty="0"/>
          </a:p>
        </p:txBody>
      </p:sp>
      <p:sp>
        <p:nvSpPr>
          <p:cNvPr id="4" name="Body"/>
          <p:cNvSpPr txBox="1"/>
          <p:nvPr/>
        </p:nvSpPr>
        <p:spPr>
          <a:xfrm>
            <a:off x="457200" y="1188720"/>
            <a:ext cx="4297680" cy="2651760"/>
          </a:xfrm>
          <a:prstGeom prst="rect">
            <a:avLst/>
          </a:prstGeom>
          <a:noFill/>
          <a:ln/>
        </p:spPr>
        <p:txBody>
          <a:bodyPr wrap="square" lIns="0" tIns="0" rIns="0" bIns="0" rtlCol="0" anchor="t"/>
          <a:lstStyle/>
          <a:p>
            <a:pPr marL="177800" indent="-177800">
              <a:spcAft>
                <a:spcPts val="800"/>
              </a:spcAft>
              <a:buSzPct val="100000"/>
              <a:buChar char="•"/>
            </a:pPr>
            <a:r>
              <a:rPr lang="en-US" sz="1100" dirty="0">
                <a:solidFill>
                  <a:srgbClr val="FFFFFF"/>
                </a:solidFill>
              </a:rPr>
              <a:t>Tabular Q-learning (rl/train.py) on an offline simulator built from the stored detections of all 30 highway chunks (27,000 frames), same geometry as the app.</a:t>
            </a:r>
            <a:endParaRPr lang="en-US" sz="1100" dirty="0"/>
          </a:p>
          <a:p>
            <a:pPr marL="177800" indent="-177800">
              <a:spcAft>
                <a:spcPts val="800"/>
              </a:spcAft>
              <a:buSzPct val="100000"/>
              <a:buChar char="•"/>
            </a:pPr>
            <a:r>
              <a:rPr lang="en-US" sz="1100" dirty="0">
                <a:solidFill>
                  <a:srgbClr val="FFFFFF"/>
                </a:solidFill>
              </a:rPr>
              <a:t>State = time-to-arrival bins for this lane, the next two and the previous one + progress + cooldown; actions hold / hop / back. 9,000 episodes, 241 s on a laptop.</a:t>
            </a:r>
            <a:endParaRPr lang="en-US" sz="1100" dirty="0"/>
          </a:p>
          <a:p>
            <a:pPr marL="177800" indent="-177800">
              <a:spcAft>
                <a:spcPts val="800"/>
              </a:spcAft>
              <a:buSzPct val="100000"/>
              <a:buChar char="•"/>
            </a:pPr>
            <a:r>
              <a:rPr lang="en-US" sz="1100" dirty="0">
                <a:solidFill>
                  <a:srgbClr val="FFFFFF"/>
                </a:solidFill>
              </a:rPr>
              <a:t>Live: the browser computes the same state and looks up the Q-table; unseen states fall back to the rule-based agent (0.65 s look-ahead). Only detections up to the current frame.</a:t>
            </a:r>
            <a:endParaRPr lang="en-US" sz="1100" dirty="0"/>
          </a:p>
          <a:p>
            <a:pPr marL="177800" indent="-177800">
              <a:spcAft>
                <a:spcPts val="800"/>
              </a:spcAft>
              <a:buSzPct val="100000"/>
              <a:buChar char="•"/>
            </a:pPr>
            <a:r>
              <a:rPr lang="en-US" sz="1100" dirty="0">
                <a:solidFill>
                  <a:srgbClr val="FFFFFF"/>
                </a:solidFill>
              </a:rPr>
              <a:t>Every run logged to Weights &amp; Biases (project hop24-autopilot); policy.json exported as a W&amp;B artifact.</a:t>
            </a:r>
            <a:endParaRPr lang="en-US" sz="1100" dirty="0"/>
          </a:p>
        </p:txBody>
      </p:sp>
      <p:pic>
        <p:nvPicPr>
          <p:cNvPr id="5" name="CROSSED: the agent crossed in 2.2 s" descr="/private/tmp/claude-501/-Users-moorthy-Downloads-Projects-Vast-builders-challenge/7304a5c7-b157-4453-b023-e17c033f4df9/scratchpad/deck/img/crossed_game.jpg">    </p:cNvPr>
          <p:cNvPicPr>
            <a:picLocks noChangeAspect="1"/>
          </p:cNvPicPr>
          <p:nvPr/>
        </p:nvPicPr>
        <p:blipFill>
          <a:blip r:embed="rId1"/>
          <a:stretch>
            <a:fillRect/>
          </a:stretch>
        </p:blipFill>
        <p:spPr>
          <a:xfrm>
            <a:off x="5029200" y="1188720"/>
            <a:ext cx="3657600" cy="2011680"/>
          </a:xfrm>
          <a:prstGeom prst="rect">
            <a:avLst/>
          </a:prstGeom>
        </p:spPr>
      </p:pic>
      <p:sp>
        <p:nvSpPr>
          <p:cNvPr id="6" name="Code"/>
          <p:cNvSpPr txBox="1"/>
          <p:nvPr/>
        </p:nvSpPr>
        <p:spPr>
          <a:xfrm>
            <a:off x="5029200" y="3291840"/>
            <a:ext cx="3657600" cy="36576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CC33"/>
                </a:solidFill>
                <a:latin typeface="Courier New" pitchFamily="34" charset="0"/>
                <a:ea typeface="Courier New" pitchFamily="34" charset="-122"/>
                <a:cs typeface="Courier New" pitchFamily="34" charset="-120"/>
              </a:rPr>
              <a:t>RL · here clear · next 0.4s · +2 clear · back clear · lane 3/8 → hop   (HUD: AUTOPILOT · RL policy)</a:t>
            </a:r>
            <a:endParaRPr lang="en-US" sz="900" dirty="0"/>
          </a:p>
        </p:txBody>
      </p:sp>
      <p:sp>
        <p:nvSpPr>
          <p:cNvPr id="7" name="Card"/>
          <p:cNvSpPr/>
          <p:nvPr/>
        </p:nvSpPr>
        <p:spPr>
          <a:xfrm>
            <a:off x="457200" y="3794760"/>
            <a:ext cx="1920240" cy="914400"/>
          </a:xfrm>
          <a:prstGeom prst="roundRect">
            <a:avLst>
              <a:gd name="adj" fmla="val 8000"/>
            </a:avLst>
          </a:prstGeom>
          <a:solidFill>
            <a:srgbClr val="121826"/>
          </a:solidFill>
          <a:ln w="9525">
            <a:solidFill>
              <a:srgbClr val="202A3D"/>
            </a:solidFill>
            <a:prstDash val="solid"/>
          </a:ln>
        </p:spPr>
      </p:sp>
      <p:sp>
        <p:nvSpPr>
          <p:cNvPr id="8" name="Stat"/>
          <p:cNvSpPr txBox="1"/>
          <p:nvPr/>
        </p:nvSpPr>
        <p:spPr>
          <a:xfrm>
            <a:off x="594360" y="3867912"/>
            <a:ext cx="1645920" cy="411480"/>
          </a:xfrm>
          <a:prstGeom prst="rect">
            <a:avLst/>
          </a:prstGeom>
          <a:noFill/>
          <a:ln/>
        </p:spPr>
        <p:txBody>
          <a:bodyPr wrap="square" lIns="0" tIns="0" rIns="0" bIns="0" rtlCol="0" anchor="ctr"/>
          <a:lstStyle/>
          <a:p>
            <a:pPr indent="0" marL="0">
              <a:buNone/>
            </a:pPr>
            <a:r>
              <a:rPr lang="en-US" sz="2000" b="1" dirty="0">
                <a:solidFill>
                  <a:srgbClr val="4CD38A"/>
                </a:solidFill>
              </a:rPr>
              <a:t>41% vs 39%</a:t>
            </a:r>
            <a:endParaRPr lang="en-US" sz="2000" dirty="0"/>
          </a:p>
        </p:txBody>
      </p:sp>
      <p:sp>
        <p:nvSpPr>
          <p:cNvPr id="9" name="Stat label"/>
          <p:cNvSpPr txBox="1"/>
          <p:nvPr/>
        </p:nvSpPr>
        <p:spPr>
          <a:xfrm>
            <a:off x="594360" y="4279392"/>
            <a:ext cx="1645920" cy="393192"/>
          </a:xfrm>
          <a:prstGeom prst="rect">
            <a:avLst/>
          </a:prstGeom>
          <a:noFill/>
          <a:ln/>
        </p:spPr>
        <p:txBody>
          <a:bodyPr wrap="square" lIns="0" tIns="0" rIns="0" bIns="0" rtlCol="0" anchor="t"/>
          <a:lstStyle/>
          <a:p>
            <a:pPr indent="0" marL="0">
              <a:buNone/>
            </a:pPr>
            <a:r>
              <a:rPr lang="en-US" sz="900" dirty="0">
                <a:solidFill>
                  <a:srgbClr val="AEB6C4"/>
                </a:solidFill>
              </a:rPr>
              <a:t>crossed, learned vs rule-based · 600 random starts, same seed, same 30 chunks</a:t>
            </a:r>
            <a:endParaRPr lang="en-US" sz="900" dirty="0"/>
          </a:p>
        </p:txBody>
      </p:sp>
      <p:sp>
        <p:nvSpPr>
          <p:cNvPr id="10" name="Card"/>
          <p:cNvSpPr/>
          <p:nvPr/>
        </p:nvSpPr>
        <p:spPr>
          <a:xfrm>
            <a:off x="2560320" y="3794760"/>
            <a:ext cx="1920240" cy="914400"/>
          </a:xfrm>
          <a:prstGeom prst="roundRect">
            <a:avLst>
              <a:gd name="adj" fmla="val 8000"/>
            </a:avLst>
          </a:prstGeom>
          <a:solidFill>
            <a:srgbClr val="121826"/>
          </a:solidFill>
          <a:ln w="9525">
            <a:solidFill>
              <a:srgbClr val="202A3D"/>
            </a:solidFill>
            <a:prstDash val="solid"/>
          </a:ln>
        </p:spPr>
      </p:sp>
      <p:sp>
        <p:nvSpPr>
          <p:cNvPr id="11" name="Stat"/>
          <p:cNvSpPr txBox="1"/>
          <p:nvPr/>
        </p:nvSpPr>
        <p:spPr>
          <a:xfrm>
            <a:off x="2697480" y="3867912"/>
            <a:ext cx="1645920" cy="411480"/>
          </a:xfrm>
          <a:prstGeom prst="rect">
            <a:avLst/>
          </a:prstGeom>
          <a:noFill/>
          <a:ln/>
        </p:spPr>
        <p:txBody>
          <a:bodyPr wrap="square" lIns="0" tIns="0" rIns="0" bIns="0" rtlCol="0" anchor="ctr"/>
          <a:lstStyle/>
          <a:p>
            <a:pPr indent="0" marL="0">
              <a:buNone/>
            </a:pPr>
            <a:r>
              <a:rPr lang="en-US" sz="2000" b="1" dirty="0">
                <a:solidFill>
                  <a:srgbClr val="4CD38A"/>
                </a:solidFill>
              </a:rPr>
              <a:t>46% vs 31%</a:t>
            </a:r>
            <a:endParaRPr lang="en-US" sz="2000" dirty="0"/>
          </a:p>
        </p:txBody>
      </p:sp>
      <p:sp>
        <p:nvSpPr>
          <p:cNvPr id="12" name="Stat label"/>
          <p:cNvSpPr txBox="1"/>
          <p:nvPr/>
        </p:nvSpPr>
        <p:spPr>
          <a:xfrm>
            <a:off x="2697480" y="4279392"/>
            <a:ext cx="1645920" cy="393192"/>
          </a:xfrm>
          <a:prstGeom prst="rect">
            <a:avLst/>
          </a:prstGeom>
          <a:noFill/>
          <a:ln/>
        </p:spPr>
        <p:txBody>
          <a:bodyPr wrap="square" lIns="0" tIns="0" rIns="0" bIns="0" rtlCol="0" anchor="t"/>
          <a:lstStyle/>
          <a:p>
            <a:pPr indent="0" marL="0">
              <a:buNone/>
            </a:pPr>
            <a:r>
              <a:rPr lang="en-US" sz="900" dirty="0">
                <a:solidFill>
                  <a:srgbClr val="AEB6C4"/>
                </a:solidFill>
              </a:rPr>
              <a:t>on p1c2, the demo camera</a:t>
            </a:r>
            <a:endParaRPr lang="en-US" sz="900" dirty="0"/>
          </a:p>
        </p:txBody>
      </p:sp>
      <p:sp>
        <p:nvSpPr>
          <p:cNvPr id="13" name="Card"/>
          <p:cNvSpPr/>
          <p:nvPr/>
        </p:nvSpPr>
        <p:spPr>
          <a:xfrm>
            <a:off x="4663440" y="3794760"/>
            <a:ext cx="1920240" cy="914400"/>
          </a:xfrm>
          <a:prstGeom prst="roundRect">
            <a:avLst>
              <a:gd name="adj" fmla="val 8000"/>
            </a:avLst>
          </a:prstGeom>
          <a:solidFill>
            <a:srgbClr val="121826"/>
          </a:solidFill>
          <a:ln w="9525">
            <a:solidFill>
              <a:srgbClr val="202A3D"/>
            </a:solidFill>
            <a:prstDash val="solid"/>
          </a:ln>
        </p:spPr>
      </p:sp>
      <p:sp>
        <p:nvSpPr>
          <p:cNvPr id="14" name="Stat"/>
          <p:cNvSpPr txBox="1"/>
          <p:nvPr/>
        </p:nvSpPr>
        <p:spPr>
          <a:xfrm>
            <a:off x="4800600" y="3867912"/>
            <a:ext cx="1645920" cy="411480"/>
          </a:xfrm>
          <a:prstGeom prst="rect">
            <a:avLst/>
          </a:prstGeom>
          <a:noFill/>
          <a:ln/>
        </p:spPr>
        <p:txBody>
          <a:bodyPr wrap="square" lIns="0" tIns="0" rIns="0" bIns="0" rtlCol="0" anchor="ctr"/>
          <a:lstStyle/>
          <a:p>
            <a:pPr indent="0" marL="0">
              <a:buNone/>
            </a:pPr>
            <a:r>
              <a:rPr lang="en-US" sz="2000" b="1" dirty="0">
                <a:solidFill>
                  <a:srgbClr val="FF5A5F"/>
                </a:solidFill>
              </a:rPr>
              <a:t>53% vs 64%</a:t>
            </a:r>
            <a:endParaRPr lang="en-US" sz="2000" dirty="0"/>
          </a:p>
        </p:txBody>
      </p:sp>
      <p:sp>
        <p:nvSpPr>
          <p:cNvPr id="15" name="Stat label"/>
          <p:cNvSpPr txBox="1"/>
          <p:nvPr/>
        </p:nvSpPr>
        <p:spPr>
          <a:xfrm>
            <a:off x="4800600" y="4279392"/>
            <a:ext cx="1645920" cy="393192"/>
          </a:xfrm>
          <a:prstGeom prst="rect">
            <a:avLst/>
          </a:prstGeom>
          <a:noFill/>
          <a:ln/>
        </p:spPr>
        <p:txBody>
          <a:bodyPr wrap="square" lIns="0" tIns="0" rIns="0" bIns="0" rtlCol="0" anchor="t"/>
          <a:lstStyle/>
          <a:p>
            <a:pPr indent="0" marL="0">
              <a:buNone/>
            </a:pPr>
            <a:r>
              <a:rPr lang="en-US" sz="900" dirty="0">
                <a:solidFill>
                  <a:srgbClr val="AEB6C4"/>
                </a:solidFill>
              </a:rPr>
              <a:t>on p1c3 — worse there; we say so</a:t>
            </a:r>
            <a:endParaRPr lang="en-US" sz="900" dirty="0"/>
          </a:p>
        </p:txBody>
      </p:sp>
      <p:sp>
        <p:nvSpPr>
          <p:cNvPr id="16" name="RL caveat"/>
          <p:cNvSpPr txBox="1"/>
          <p:nvPr/>
        </p:nvSpPr>
        <p:spPr>
          <a:xfrm>
            <a:off x="6766560" y="3794760"/>
            <a:ext cx="1920240" cy="914400"/>
          </a:xfrm>
          <a:prstGeom prst="rect">
            <a:avLst/>
          </a:prstGeom>
          <a:noFill/>
          <a:ln/>
        </p:spPr>
        <p:txBody>
          <a:bodyPr wrap="square" lIns="0" tIns="0" rIns="0" bIns="0" rtlCol="0" anchor="ctr"/>
          <a:lstStyle/>
          <a:p>
            <a:pPr indent="0" marL="0">
              <a:buNone/>
            </a:pPr>
            <a:r>
              <a:rPr lang="en-US" sz="1000" i="1" dirty="0">
                <a:solidFill>
                  <a:srgbClr val="AEB6C4"/>
                </a:solidFill>
              </a:rPr>
              <a:t>Modest overall gain; the per-camera split is the honest picture. It still dies sometimes.</a:t>
            </a:r>
            <a:endParaRPr lang="en-US" sz="10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Kicker"/>
          <p:cNvSpPr txBox="1"/>
          <p:nvPr/>
        </p:nvSpPr>
        <p:spPr>
          <a:xfrm>
            <a:off x="457200" y="109728"/>
            <a:ext cx="8229600" cy="228600"/>
          </a:xfrm>
          <a:prstGeom prst="rect">
            <a:avLst/>
          </a:prstGeom>
          <a:noFill/>
          <a:ln/>
        </p:spPr>
        <p:txBody>
          <a:bodyPr wrap="square" lIns="0" tIns="0" rIns="0" bIns="0" rtlCol="0" anchor="ctr"/>
          <a:lstStyle/>
          <a:p>
            <a:pPr indent="0" marL="0">
              <a:buNone/>
            </a:pPr>
            <a:r>
              <a:rPr lang="en-US" sz="1000" b="1" spc="300" kern="0" dirty="0">
                <a:solidFill>
                  <a:srgbClr val="FFCC33"/>
                </a:solidFill>
              </a:rPr>
              <a:t>ARCHITECTURE · WHAT'S NEXT · HONEST LIMITS</a:t>
            </a:r>
            <a:endParaRPr lang="en-US" sz="1000" dirty="0"/>
          </a:p>
        </p:txBody>
      </p:sp>
      <p:sp>
        <p:nvSpPr>
          <p:cNvPr id="3" name="Title"/>
          <p:cNvSpPr txBox="1"/>
          <p:nvPr/>
        </p:nvSpPr>
        <p:spPr>
          <a:xfrm>
            <a:off x="457200" y="365760"/>
            <a:ext cx="8229600" cy="548640"/>
          </a:xfrm>
          <a:prstGeom prst="rect">
            <a:avLst/>
          </a:prstGeom>
          <a:noFill/>
          <a:ln/>
        </p:spPr>
        <p:txBody>
          <a:bodyPr wrap="square" lIns="0" tIns="0" rIns="0" bIns="0" rtlCol="0" anchor="ctr"/>
          <a:lstStyle/>
          <a:p>
            <a:pPr indent="0" marL="0">
              <a:buNone/>
            </a:pPr>
            <a:r>
              <a:rPr lang="en-US" sz="2800" b="1" dirty="0">
                <a:solidFill>
                  <a:srgbClr val="FFFFFF"/>
                </a:solidFill>
              </a:rPr>
              <a:t>Built on the archive, not beside it</a:t>
            </a:r>
            <a:endParaRPr lang="en-US" sz="2800" dirty="0"/>
          </a:p>
        </p:txBody>
      </p:sp>
      <p:sp>
        <p:nvSpPr>
          <p:cNvPr id="4" name="Card"/>
          <p:cNvSpPr/>
          <p:nvPr/>
        </p:nvSpPr>
        <p:spPr>
          <a:xfrm>
            <a:off x="457200" y="1051560"/>
            <a:ext cx="1554480" cy="960120"/>
          </a:xfrm>
          <a:prstGeom prst="roundRect">
            <a:avLst>
              <a:gd name="adj" fmla="val 7619"/>
            </a:avLst>
          </a:prstGeom>
          <a:solidFill>
            <a:srgbClr val="121826"/>
          </a:solidFill>
          <a:ln w="9525">
            <a:solidFill>
              <a:srgbClr val="202A3D"/>
            </a:solidFill>
            <a:prstDash val="solid"/>
          </a:ln>
        </p:spPr>
      </p:sp>
      <p:sp>
        <p:nvSpPr>
          <p:cNvPr id="5" name="Arch node"/>
          <p:cNvSpPr txBox="1"/>
          <p:nvPr/>
        </p:nvSpPr>
        <p:spPr>
          <a:xfrm>
            <a:off x="45720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Browser</a:t>
            </a:r>
            <a:endParaRPr lang="en-US" sz="1100" dirty="0"/>
          </a:p>
          <a:p>
            <a:pPr algn="ctr" indent="0" marL="0">
              <a:buNone/>
            </a:pPr>
            <a:r>
              <a:rPr lang="en-US" sz="850" dirty="0">
                <a:solidFill>
                  <a:srgbClr val="FFFFFF"/>
                </a:solidFill>
              </a:rPr>
              <a:t>single HTML/JS page</a:t>
            </a:r>
            <a:endParaRPr lang="en-US" sz="1100" dirty="0"/>
          </a:p>
          <a:p>
            <a:pPr algn="ctr" indent="0" marL="0">
              <a:buNone/>
            </a:pPr>
            <a:r>
              <a:rPr lang="en-US" sz="850" dirty="0">
                <a:solidFill>
                  <a:srgbClr val="FFFFFF"/>
                </a:solidFill>
              </a:rPr>
              <a:t>canvas 1280×720</a:t>
            </a:r>
            <a:endParaRPr lang="en-US" sz="1100" dirty="0"/>
          </a:p>
          <a:p>
            <a:pPr algn="ctr" indent="0" marL="0">
              <a:buNone/>
            </a:pPr>
            <a:r>
              <a:rPr lang="en-US" sz="850" dirty="0">
                <a:solidFill>
                  <a:srgbClr val="FFFFFF"/>
                </a:solidFill>
              </a:rPr>
              <a:t>Q-table lookup live</a:t>
            </a:r>
            <a:endParaRPr lang="en-US" sz="1100" dirty="0"/>
          </a:p>
        </p:txBody>
      </p:sp>
      <p:sp>
        <p:nvSpPr>
          <p:cNvPr id="6" name="Arrow"/>
          <p:cNvSpPr txBox="1"/>
          <p:nvPr/>
        </p:nvSpPr>
        <p:spPr>
          <a:xfrm>
            <a:off x="199339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7" name="Card"/>
          <p:cNvSpPr/>
          <p:nvPr/>
        </p:nvSpPr>
        <p:spPr>
          <a:xfrm>
            <a:off x="2125980" y="1051560"/>
            <a:ext cx="1554480" cy="960120"/>
          </a:xfrm>
          <a:prstGeom prst="roundRect">
            <a:avLst>
              <a:gd name="adj" fmla="val 7619"/>
            </a:avLst>
          </a:prstGeom>
          <a:solidFill>
            <a:srgbClr val="121826"/>
          </a:solidFill>
          <a:ln w="9525">
            <a:solidFill>
              <a:srgbClr val="202A3D"/>
            </a:solidFill>
            <a:prstDash val="solid"/>
          </a:ln>
        </p:spPr>
      </p:sp>
      <p:sp>
        <p:nvSpPr>
          <p:cNvPr id="8" name="Arch node"/>
          <p:cNvSpPr txBox="1"/>
          <p:nvPr/>
        </p:nvSpPr>
        <p:spPr>
          <a:xfrm>
            <a:off x="212598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Backend</a:t>
            </a:r>
            <a:endParaRPr lang="en-US" sz="1100" dirty="0"/>
          </a:p>
          <a:p>
            <a:pPr algn="ctr" indent="0" marL="0">
              <a:buNone/>
            </a:pPr>
            <a:r>
              <a:rPr lang="en-US" sz="850" dirty="0">
                <a:solidFill>
                  <a:srgbClr val="FFFFFF"/>
                </a:solidFill>
              </a:rPr>
              <a:t>Python stdlib only</a:t>
            </a:r>
            <a:endParaRPr lang="en-US" sz="1100" dirty="0"/>
          </a:p>
          <a:p>
            <a:pPr algn="ctr" indent="0" marL="0">
              <a:buNone/>
            </a:pPr>
            <a:r>
              <a:rPr lang="en-US" sz="850" dirty="0">
                <a:solidFill>
                  <a:srgbClr val="FFFFFF"/>
                </a:solidFill>
              </a:rPr>
              <a:t>~580 lines, k8s ConfigMap</a:t>
            </a:r>
            <a:endParaRPr lang="en-US" sz="1100" dirty="0"/>
          </a:p>
          <a:p>
            <a:pPr algn="ctr" indent="0" marL="0">
              <a:buNone/>
            </a:pPr>
            <a:r>
              <a:rPr lang="en-US" sz="850" dirty="0">
                <a:solidFill>
                  <a:srgbClr val="FFFFFF"/>
                </a:solidFill>
              </a:rPr>
              <a:t>/masks /policy.json</a:t>
            </a:r>
            <a:endParaRPr lang="en-US" sz="1100" dirty="0"/>
          </a:p>
        </p:txBody>
      </p:sp>
      <p:sp>
        <p:nvSpPr>
          <p:cNvPr id="9" name="Arrow"/>
          <p:cNvSpPr txBox="1"/>
          <p:nvPr/>
        </p:nvSpPr>
        <p:spPr>
          <a:xfrm>
            <a:off x="366217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0" name="Card"/>
          <p:cNvSpPr/>
          <p:nvPr/>
        </p:nvSpPr>
        <p:spPr>
          <a:xfrm>
            <a:off x="3794760" y="1051560"/>
            <a:ext cx="1554480" cy="960120"/>
          </a:xfrm>
          <a:prstGeom prst="roundRect">
            <a:avLst>
              <a:gd name="adj" fmla="val 7619"/>
            </a:avLst>
          </a:prstGeom>
          <a:solidFill>
            <a:srgbClr val="121826"/>
          </a:solidFill>
          <a:ln w="9525">
            <a:solidFill>
              <a:srgbClr val="202A3D"/>
            </a:solidFill>
            <a:prstDash val="solid"/>
          </a:ln>
        </p:spPr>
      </p:sp>
      <p:sp>
        <p:nvSpPr>
          <p:cNvPr id="11" name="Arch node"/>
          <p:cNvSpPr txBox="1"/>
          <p:nvPr/>
        </p:nvSpPr>
        <p:spPr>
          <a:xfrm>
            <a:off x="379476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FFCC33"/>
                </a:solidFill>
              </a:rPr>
              <a:t>VSS REST</a:t>
            </a:r>
            <a:endParaRPr lang="en-US" sz="1100" dirty="0"/>
          </a:p>
          <a:p>
            <a:pPr algn="ctr" indent="0" marL="0">
              <a:buNone/>
            </a:pPr>
            <a:r>
              <a:rPr lang="en-US" sz="850" dirty="0">
                <a:solidFill>
                  <a:srgbClr val="FFFFFF"/>
                </a:solidFill>
              </a:rPr>
              <a:t>/stream /detections</a:t>
            </a:r>
            <a:endParaRPr lang="en-US" sz="1100" dirty="0"/>
          </a:p>
          <a:p>
            <a:pPr algn="ctr" indent="0" marL="0">
              <a:buNone/>
            </a:pPr>
            <a:r>
              <a:rPr lang="en-US" sz="850" dirty="0">
                <a:solidFill>
                  <a:srgbClr val="FFFFFF"/>
                </a:solidFill>
              </a:rPr>
              <a:t>/metadata /search</a:t>
            </a:r>
            <a:endParaRPr lang="en-US" sz="1100" dirty="0"/>
          </a:p>
          <a:p>
            <a:pPr algn="ctr" indent="0" marL="0">
              <a:buNone/>
            </a:pPr>
            <a:r>
              <a:rPr lang="en-US" sz="850" dirty="0">
                <a:solidFill>
                  <a:srgbClr val="FFFFFF"/>
                </a:solidFill>
              </a:rPr>
              <a:t>/reingest</a:t>
            </a:r>
            <a:endParaRPr lang="en-US" sz="1100" dirty="0"/>
          </a:p>
        </p:txBody>
      </p:sp>
      <p:sp>
        <p:nvSpPr>
          <p:cNvPr id="12" name="Arrow"/>
          <p:cNvSpPr txBox="1"/>
          <p:nvPr/>
        </p:nvSpPr>
        <p:spPr>
          <a:xfrm>
            <a:off x="533095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3" name="Card"/>
          <p:cNvSpPr/>
          <p:nvPr/>
        </p:nvSpPr>
        <p:spPr>
          <a:xfrm>
            <a:off x="5463540" y="1051560"/>
            <a:ext cx="1554480" cy="960120"/>
          </a:xfrm>
          <a:prstGeom prst="roundRect">
            <a:avLst>
              <a:gd name="adj" fmla="val 7619"/>
            </a:avLst>
          </a:prstGeom>
          <a:solidFill>
            <a:srgbClr val="1F2A1B"/>
          </a:solidFill>
          <a:ln w="9525">
            <a:solidFill>
              <a:srgbClr val="202A3D"/>
            </a:solidFill>
            <a:prstDash val="solid"/>
          </a:ln>
        </p:spPr>
      </p:sp>
      <p:sp>
        <p:nvSpPr>
          <p:cNvPr id="14" name="Arch node"/>
          <p:cNvSpPr txBox="1"/>
          <p:nvPr/>
        </p:nvSpPr>
        <p:spPr>
          <a:xfrm>
            <a:off x="546354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4CD38A"/>
                </a:solidFill>
              </a:rPr>
              <a:t>VAST AI OS</a:t>
            </a:r>
            <a:endParaRPr lang="en-US" sz="1100" dirty="0"/>
          </a:p>
          <a:p>
            <a:pPr algn="ctr" indent="0" marL="0">
              <a:buNone/>
            </a:pPr>
            <a:r>
              <a:rPr lang="en-US" sz="850" dirty="0">
                <a:solidFill>
                  <a:srgbClr val="FFFFFF"/>
                </a:solidFill>
              </a:rPr>
              <a:t>S3 · DataEngine</a:t>
            </a:r>
            <a:endParaRPr lang="en-US" sz="1100" dirty="0"/>
          </a:p>
          <a:p>
            <a:pPr algn="ctr" indent="0" marL="0">
              <a:buNone/>
            </a:pPr>
            <a:r>
              <a:rPr lang="en-US" sz="850" dirty="0">
                <a:solidFill>
                  <a:srgbClr val="FFFFFF"/>
                </a:solidFill>
              </a:rPr>
              <a:t>VastDB vss-collection</a:t>
            </a:r>
            <a:endParaRPr lang="en-US" sz="1100" dirty="0"/>
          </a:p>
        </p:txBody>
      </p:sp>
      <p:sp>
        <p:nvSpPr>
          <p:cNvPr id="15" name="Arrow"/>
          <p:cNvSpPr txBox="1"/>
          <p:nvPr/>
        </p:nvSpPr>
        <p:spPr>
          <a:xfrm>
            <a:off x="6999732" y="1051560"/>
            <a:ext cx="150876" cy="960120"/>
          </a:xfrm>
          <a:prstGeom prst="rect">
            <a:avLst/>
          </a:prstGeom>
          <a:noFill/>
          <a:ln/>
        </p:spPr>
        <p:txBody>
          <a:bodyPr wrap="square" lIns="0" tIns="0" rIns="0" bIns="0" rtlCol="0" anchor="ctr"/>
          <a:lstStyle/>
          <a:p>
            <a:pPr algn="ctr" indent="0" marL="0">
              <a:buNone/>
            </a:pPr>
            <a:r>
              <a:rPr lang="en-US" sz="1600" dirty="0">
                <a:solidFill>
                  <a:srgbClr val="FFCC33"/>
                </a:solidFill>
              </a:rPr>
              <a:t>›</a:t>
            </a:r>
            <a:endParaRPr lang="en-US" sz="1600" dirty="0"/>
          </a:p>
        </p:txBody>
      </p:sp>
      <p:sp>
        <p:nvSpPr>
          <p:cNvPr id="16" name="Card"/>
          <p:cNvSpPr/>
          <p:nvPr/>
        </p:nvSpPr>
        <p:spPr>
          <a:xfrm>
            <a:off x="7132320" y="1051560"/>
            <a:ext cx="1554480" cy="960120"/>
          </a:xfrm>
          <a:prstGeom prst="roundRect">
            <a:avLst>
              <a:gd name="adj" fmla="val 7619"/>
            </a:avLst>
          </a:prstGeom>
          <a:solidFill>
            <a:srgbClr val="1F2A1B"/>
          </a:solidFill>
          <a:ln w="9525">
            <a:solidFill>
              <a:srgbClr val="202A3D"/>
            </a:solidFill>
            <a:prstDash val="solid"/>
          </a:ln>
        </p:spPr>
      </p:sp>
      <p:sp>
        <p:nvSpPr>
          <p:cNvPr id="17" name="Arch node"/>
          <p:cNvSpPr txBox="1"/>
          <p:nvPr/>
        </p:nvSpPr>
        <p:spPr>
          <a:xfrm>
            <a:off x="7132320" y="1051560"/>
            <a:ext cx="1554480" cy="960120"/>
          </a:xfrm>
          <a:prstGeom prst="rect">
            <a:avLst/>
          </a:prstGeom>
          <a:noFill/>
          <a:ln/>
        </p:spPr>
        <p:txBody>
          <a:bodyPr wrap="square" lIns="508" tIns="508" rIns="508" bIns="508" rtlCol="0" anchor="ctr"/>
          <a:lstStyle/>
          <a:p>
            <a:pPr algn="ctr" indent="0" marL="0">
              <a:buNone/>
            </a:pPr>
            <a:r>
              <a:rPr lang="en-US" sz="1100" b="1" dirty="0">
                <a:solidFill>
                  <a:srgbClr val="4CD38A"/>
                </a:solidFill>
              </a:rPr>
              <a:t>NVIDIA on CoreWeave</a:t>
            </a:r>
            <a:endParaRPr lang="en-US" sz="1100" dirty="0"/>
          </a:p>
          <a:p>
            <a:pPr algn="ctr" indent="0" marL="0">
              <a:buNone/>
            </a:pPr>
            <a:r>
              <a:rPr lang="en-US" sz="850" dirty="0">
                <a:solidFill>
                  <a:srgbClr val="FFFFFF"/>
                </a:solidFill>
              </a:rPr>
              <a:t>Cosmos3-Reason · Embed1</a:t>
            </a:r>
            <a:endParaRPr lang="en-US" sz="1100" dirty="0"/>
          </a:p>
          <a:p>
            <a:pPr algn="ctr" indent="0" marL="0">
              <a:buNone/>
            </a:pPr>
            <a:r>
              <a:rPr lang="en-US" sz="850" dirty="0">
                <a:solidFill>
                  <a:srgbClr val="FFFFFF"/>
                </a:solidFill>
              </a:rPr>
              <a:t>YOLO11s</a:t>
            </a:r>
            <a:endParaRPr lang="en-US" sz="1100" dirty="0"/>
          </a:p>
        </p:txBody>
      </p:sp>
      <p:sp>
        <p:nvSpPr>
          <p:cNvPr id="18" name="Card"/>
          <p:cNvSpPr/>
          <p:nvPr/>
        </p:nvSpPr>
        <p:spPr>
          <a:xfrm>
            <a:off x="457200" y="2084832"/>
            <a:ext cx="4023360" cy="566928"/>
          </a:xfrm>
          <a:prstGeom prst="roundRect">
            <a:avLst>
              <a:gd name="adj" fmla="val 12903"/>
            </a:avLst>
          </a:prstGeom>
          <a:solidFill>
            <a:srgbClr val="1B2333"/>
          </a:solidFill>
          <a:ln w="9525">
            <a:solidFill>
              <a:srgbClr val="202A3D"/>
            </a:solidFill>
            <a:prstDash val="solid"/>
          </a:ln>
        </p:spPr>
      </p:sp>
      <p:sp>
        <p:nvSpPr>
          <p:cNvPr id="19" name="Tooling node"/>
          <p:cNvSpPr txBox="1"/>
          <p:nvPr/>
        </p:nvSpPr>
        <p:spPr>
          <a:xfrm>
            <a:off x="457200" y="2084832"/>
            <a:ext cx="4023360" cy="566928"/>
          </a:xfrm>
          <a:prstGeom prst="rect">
            <a:avLst/>
          </a:prstGeom>
          <a:noFill/>
          <a:ln/>
        </p:spPr>
        <p:txBody>
          <a:bodyPr wrap="square" lIns="762" tIns="762" rIns="762" bIns="762" rtlCol="0" anchor="ctr"/>
          <a:lstStyle/>
          <a:p>
            <a:pPr indent="0" marL="0">
              <a:buNone/>
            </a:pPr>
            <a:r>
              <a:rPr lang="en-US" sz="950" b="1" dirty="0">
                <a:solidFill>
                  <a:srgbClr val="4DA3FF"/>
                </a:solidFill>
              </a:rPr>
              <a:t>seg/masks.py · FastSAM  </a:t>
            </a:r>
            <a:pPr indent="0" marL="0">
              <a:buNone/>
            </a:pPr>
            <a:r>
              <a:rPr lang="en-US" sz="800" dirty="0">
                <a:solidFill>
                  <a:srgbClr val="AEB6C4"/>
                </a:solidFill>
              </a:rPr>
              <a:t>FastSAM-s prompted by the stored YOLO boxes → ≤14-pt polygons, every 3rd frame → masks__&lt;segment&gt;.json (precomputed on a laptop; the pod has no GPU)</a:t>
            </a:r>
            <a:endParaRPr lang="en-US" sz="950" dirty="0"/>
          </a:p>
        </p:txBody>
      </p:sp>
      <p:sp>
        <p:nvSpPr>
          <p:cNvPr id="20" name="Card"/>
          <p:cNvSpPr/>
          <p:nvPr/>
        </p:nvSpPr>
        <p:spPr>
          <a:xfrm>
            <a:off x="4663440" y="2084832"/>
            <a:ext cx="4023360" cy="566928"/>
          </a:xfrm>
          <a:prstGeom prst="roundRect">
            <a:avLst>
              <a:gd name="adj" fmla="val 12903"/>
            </a:avLst>
          </a:prstGeom>
          <a:solidFill>
            <a:srgbClr val="1B2333"/>
          </a:solidFill>
          <a:ln w="9525">
            <a:solidFill>
              <a:srgbClr val="202A3D"/>
            </a:solidFill>
            <a:prstDash val="solid"/>
          </a:ln>
        </p:spPr>
      </p:sp>
      <p:sp>
        <p:nvSpPr>
          <p:cNvPr id="21" name="Tooling node"/>
          <p:cNvSpPr txBox="1"/>
          <p:nvPr/>
        </p:nvSpPr>
        <p:spPr>
          <a:xfrm>
            <a:off x="4663440" y="2084832"/>
            <a:ext cx="4023360" cy="566928"/>
          </a:xfrm>
          <a:prstGeom prst="rect">
            <a:avLst/>
          </a:prstGeom>
          <a:noFill/>
          <a:ln/>
        </p:spPr>
        <p:txBody>
          <a:bodyPr wrap="square" lIns="762" tIns="762" rIns="762" bIns="762" rtlCol="0" anchor="ctr"/>
          <a:lstStyle/>
          <a:p>
            <a:pPr indent="0" marL="0">
              <a:buNone/>
            </a:pPr>
            <a:r>
              <a:rPr lang="en-US" sz="950" b="1" dirty="0">
                <a:solidFill>
                  <a:srgbClr val="4DA3FF"/>
                </a:solidFill>
              </a:rPr>
              <a:t>rl/train.py · Q-learning + W&amp;B  </a:t>
            </a:r>
            <a:pPr indent="0" marL="0">
              <a:buNone/>
            </a:pPr>
            <a:r>
              <a:rPr lang="en-US" sz="800" dirty="0">
                <a:solidFill>
                  <a:srgbClr val="AEB6C4"/>
                </a:solidFill>
              </a:rPr>
              <a:t>offline simulator from all 30 chunks' detections → 9,000 episodes → policy.json; metrics + policy artifact logged to Weights &amp; Biases (hop24-autopilot)</a:t>
            </a:r>
            <a:endParaRPr lang="en-US" sz="950" dirty="0"/>
          </a:p>
        </p:txBody>
      </p:sp>
      <p:sp>
        <p:nvSpPr>
          <p:cNvPr id="22" name="Limits head"/>
          <p:cNvSpPr txBox="1"/>
          <p:nvPr/>
        </p:nvSpPr>
        <p:spPr>
          <a:xfrm>
            <a:off x="457200" y="2743200"/>
            <a:ext cx="4023360" cy="256032"/>
          </a:xfrm>
          <a:prstGeom prst="rect">
            <a:avLst/>
          </a:prstGeom>
          <a:noFill/>
          <a:ln/>
        </p:spPr>
        <p:txBody>
          <a:bodyPr wrap="square" lIns="0" tIns="0" rIns="0" bIns="0" rtlCol="0" anchor="ctr"/>
          <a:lstStyle/>
          <a:p>
            <a:pPr indent="0" marL="0">
              <a:buNone/>
            </a:pPr>
            <a:r>
              <a:rPr lang="en-US" sz="1200" b="1" dirty="0">
                <a:solidFill>
                  <a:srgbClr val="FF5A5F"/>
                </a:solidFill>
              </a:rPr>
              <a:t>Honest limits</a:t>
            </a:r>
            <a:endParaRPr lang="en-US" sz="1200" dirty="0"/>
          </a:p>
        </p:txBody>
      </p:sp>
      <p:sp>
        <p:nvSpPr>
          <p:cNvPr id="23" name="Body"/>
          <p:cNvSpPr txBox="1"/>
          <p:nvPr/>
        </p:nvSpPr>
        <p:spPr>
          <a:xfrm>
            <a:off x="457200" y="3017520"/>
            <a:ext cx="4023360" cy="1737360"/>
          </a:xfrm>
          <a:prstGeom prst="rect">
            <a:avLst/>
          </a:prstGeom>
          <a:noFill/>
          <a:ln/>
        </p:spPr>
        <p:txBody>
          <a:bodyPr wrap="square" lIns="0" tIns="0" rIns="0" bIns="0" rtlCol="0" anchor="t"/>
          <a:lstStyle/>
          <a:p>
            <a:pPr marL="177800" indent="-177800">
              <a:spcAft>
                <a:spcPts val="800"/>
              </a:spcAft>
              <a:buSzPct val="100000"/>
              <a:buChar char="•"/>
            </a:pPr>
            <a:r>
              <a:rPr lang="en-US" sz="950" dirty="0">
                <a:solidFill>
                  <a:srgbClr val="FFFFFF"/>
                </a:solidFill>
              </a:rPr>
              <a:t>Candidate sightings, not vehicle re-identification.</a:t>
            </a:r>
            <a:endParaRPr lang="en-US" sz="950" dirty="0"/>
          </a:p>
          <a:p>
            <a:pPr marL="177800" indent="-177800">
              <a:spcAft>
                <a:spcPts val="800"/>
              </a:spcAft>
              <a:buSzPct val="100000"/>
              <a:buChar char="•"/>
            </a:pPr>
            <a:r>
              <a:rPr lang="en-US" sz="950" dirty="0">
                <a:solidFill>
                  <a:srgbClr val="FFFFFF"/>
                </a:solidFill>
              </a:rPr>
              <a:t>The collision is staged (a game); the agent's job starts after it. No crashes in the dataset.</a:t>
            </a:r>
            <a:endParaRPr lang="en-US" sz="950" dirty="0"/>
          </a:p>
          <a:p>
            <a:pPr marL="177800" indent="-177800">
              <a:spcAft>
                <a:spcPts val="800"/>
              </a:spcAft>
              <a:buSzPct val="100000"/>
              <a:buChar char="•"/>
            </a:pPr>
            <a:r>
              <a:rPr lang="en-US" sz="950" dirty="0">
                <a:solidFill>
                  <a:srgbClr val="FFFFFF"/>
                </a:solidFill>
              </a:rPr>
              <a:t>Re-describe takes minutes; pre-run for the demo. FastSAM masks precomputed for one chunk.</a:t>
            </a:r>
            <a:endParaRPr lang="en-US" sz="950" dirty="0"/>
          </a:p>
          <a:p>
            <a:pPr marL="177800" indent="-177800">
              <a:spcAft>
                <a:spcPts val="800"/>
              </a:spcAft>
              <a:buSzPct val="100000"/>
              <a:buChar char="•"/>
            </a:pPr>
            <a:r>
              <a:rPr lang="en-US" sz="950" dirty="0">
                <a:solidFill>
                  <a:srgbClr val="FFFFFF"/>
                </a:solidFill>
              </a:rPr>
              <a:t>No W&amp;B Inference / Weave / Cosmos calls at runtime — reads pipeline output from VastDB; W&amp;B is used for RL training logs.</a:t>
            </a:r>
            <a:endParaRPr lang="en-US" sz="950" dirty="0"/>
          </a:p>
          <a:p>
            <a:pPr marL="177800" indent="-177800">
              <a:spcAft>
                <a:spcPts val="800"/>
              </a:spcAft>
              <a:buSzPct val="100000"/>
              <a:buChar char="•"/>
            </a:pPr>
            <a:r>
              <a:rPr lang="en-US" sz="950" dirty="0">
                <a:solidFill>
                  <a:srgbClr val="FFFFFF"/>
                </a:solidFill>
              </a:rPr>
              <a:t>One pole (3 cameras) of I-24 in the team archive. RL policy is worse than the rules on p1c3.</a:t>
            </a:r>
            <a:endParaRPr lang="en-US" sz="950" dirty="0"/>
          </a:p>
        </p:txBody>
      </p:sp>
      <p:sp>
        <p:nvSpPr>
          <p:cNvPr id="24" name="Next head"/>
          <p:cNvSpPr txBox="1"/>
          <p:nvPr/>
        </p:nvSpPr>
        <p:spPr>
          <a:xfrm>
            <a:off x="4846320" y="2743200"/>
            <a:ext cx="3840480" cy="256032"/>
          </a:xfrm>
          <a:prstGeom prst="rect">
            <a:avLst/>
          </a:prstGeom>
          <a:noFill/>
          <a:ln/>
        </p:spPr>
        <p:txBody>
          <a:bodyPr wrap="square" lIns="0" tIns="0" rIns="0" bIns="0" rtlCol="0" anchor="ctr"/>
          <a:lstStyle/>
          <a:p>
            <a:pPr indent="0" marL="0">
              <a:buNone/>
            </a:pPr>
            <a:r>
              <a:rPr lang="en-US" sz="1200" b="1" dirty="0">
                <a:solidFill>
                  <a:srgbClr val="4CD38A"/>
                </a:solidFill>
              </a:rPr>
              <a:t>What's next</a:t>
            </a:r>
            <a:endParaRPr lang="en-US" sz="1200" dirty="0"/>
          </a:p>
        </p:txBody>
      </p:sp>
      <p:sp>
        <p:nvSpPr>
          <p:cNvPr id="25" name="Body"/>
          <p:cNvSpPr txBox="1"/>
          <p:nvPr/>
        </p:nvSpPr>
        <p:spPr>
          <a:xfrm>
            <a:off x="4846320" y="3017520"/>
            <a:ext cx="3840480" cy="1005840"/>
          </a:xfrm>
          <a:prstGeom prst="rect">
            <a:avLst/>
          </a:prstGeom>
          <a:noFill/>
          <a:ln/>
        </p:spPr>
        <p:txBody>
          <a:bodyPr wrap="square" lIns="0" tIns="0" rIns="0" bIns="0" rtlCol="0" anchor="t"/>
          <a:lstStyle/>
          <a:p>
            <a:pPr marL="177800" indent="-177800">
              <a:spcAft>
                <a:spcPts val="800"/>
              </a:spcAft>
              <a:buSzPct val="100000"/>
              <a:buChar char="•"/>
            </a:pPr>
            <a:r>
              <a:rPr lang="en-US" sz="950" dirty="0">
                <a:solidFill>
                  <a:srgbClr val="FFFFFF"/>
                </a:solidFill>
              </a:rPr>
              <a:t>More poles: same code, more camera_id values in the filter.</a:t>
            </a:r>
            <a:endParaRPr lang="en-US" sz="950" dirty="0"/>
          </a:p>
          <a:p>
            <a:pPr marL="177800" indent="-177800">
              <a:spcAft>
                <a:spcPts val="800"/>
              </a:spcAft>
              <a:buSzPct val="100000"/>
              <a:buChar char="•"/>
            </a:pPr>
            <a:r>
              <a:rPr lang="en-US" sz="950" dirty="0">
                <a:solidFill>
                  <a:srgbClr val="FFFFFF"/>
                </a:solidFill>
              </a:rPr>
              <a:t>Track-level re-identification on top of the hybrid search.</a:t>
            </a:r>
            <a:endParaRPr lang="en-US" sz="950" dirty="0"/>
          </a:p>
          <a:p>
            <a:pPr marL="177800" indent="-177800">
              <a:spcAft>
                <a:spcPts val="800"/>
              </a:spcAft>
              <a:buSzPct val="100000"/>
              <a:buChar char="•"/>
            </a:pPr>
            <a:r>
              <a:rPr lang="en-US" sz="950" dirty="0">
                <a:solidFill>
                  <a:srgbClr val="FFFFFF"/>
                </a:solidFill>
              </a:rPr>
              <a:t>Ship the investigator prompt as the default for highway packs so the archive is sharp on ingest.</a:t>
            </a:r>
            <a:endParaRPr lang="en-US" sz="950" dirty="0"/>
          </a:p>
        </p:txBody>
      </p:sp>
      <p:sp>
        <p:nvSpPr>
          <p:cNvPr id="26" name="Code"/>
          <p:cNvSpPr txBox="1"/>
          <p:nvPr/>
        </p:nvSpPr>
        <p:spPr>
          <a:xfrm>
            <a:off x="4846320" y="4069080"/>
            <a:ext cx="3840480" cy="640080"/>
          </a:xfrm>
          <a:prstGeom prst="rect">
            <a:avLst/>
          </a:prstGeom>
          <a:solidFill>
            <a:srgbClr val="0B0F17"/>
          </a:solidFill>
          <a:ln w="9525">
            <a:solidFill>
              <a:srgbClr val="202A3D"/>
            </a:solidFill>
          </a:ln>
        </p:spPr>
        <p:txBody>
          <a:bodyPr wrap="square" lIns="1016" tIns="1016" rIns="1016" bIns="1016" rtlCol="0" anchor="ctr"/>
          <a:lstStyle/>
          <a:p>
            <a:pPr indent="0" marL="0">
              <a:buNone/>
            </a:pPr>
            <a:r>
              <a:rPr lang="en-US" sz="900" dirty="0">
                <a:solidFill>
                  <a:srgbClr val="FFFFFF"/>
                </a:solidFill>
                <a:latin typeface="Courier New" pitchFamily="34" charset="0"/>
                <a:ea typeface="Courier New" pitchFamily="34" charset="-122"/>
                <a:cs typeface="Courier New" pitchFamily="34" charset="-120"/>
              </a:rPr>
              <a:t>github.com/vnmoorthy/hop24</a:t>
            </a:r>
            <a:endParaRPr lang="en-US" sz="900" dirty="0"/>
          </a:p>
          <a:p>
            <a:pPr indent="0" marL="0">
              <a:buNone/>
            </a:pPr>
            <a:r>
              <a:rPr lang="en-US" sz="900" dirty="0">
                <a:solidFill>
                  <a:srgbClr val="FFFFFF"/>
                </a:solidFill>
                <a:latin typeface="Courier New" pitchFamily="34" charset="0"/>
                <a:ea typeface="Courier New" pitchFamily="34" charset="-122"/>
                <a:cs typeface="Courier New" pitchFamily="34" charset="-120"/>
              </a:rPr>
              <a:t>live: team-10-app.thecosmoslabs.com/app/   (venue: video-lab-team-10.cosmos.vastdata.com/app)</a:t>
            </a:r>
            <a:endParaRPr lang="en-US" sz="900" dirty="0"/>
          </a:p>
        </p:txBody>
      </p:sp>
      <p:sp>
        <p:nvSpPr>
          <p:cNvPr id="25" name="Slide Number Placeholder 0"/>
          <p:cNvSpPr>
            <a:spLocks noGrp="1"/>
          </p:cNvSpPr>
          <p:nvPr>
            <p:ph type="sldNum" sz="quarter" idx="4294967295"/>
          </p:nvPr>
        </p:nvSpPr>
        <p:spPr>
          <a:xfrm>
            <a:off x="8412480" y="480060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AEB6C4"/>
                </a:solidFill>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Hop24 Night">
  <a:themeElements>
    <a:clrScheme name="Hop24 Night">
      <a:dk1>
        <a:srgbClr val="070A0F"/>
      </a:dk1>
      <a:lt1>
        <a:srgbClr val="FFFFFF"/>
      </a:lt1>
      <a:dk2>
        <a:srgbClr val="121826"/>
      </a:dk2>
      <a:lt2>
        <a:srgbClr val="AEB6C4"/>
      </a:lt2>
      <a:accent1>
        <a:srgbClr val="FFCC33"/>
      </a:accent1>
      <a:accent2>
        <a:srgbClr val="FF5A5F"/>
      </a:accent2>
      <a:accent3>
        <a:srgbClr val="4CD38A"/>
      </a:accent3>
      <a:accent4>
        <a:srgbClr val="4DA3FF"/>
      </a:accent4>
      <a:accent5>
        <a:srgbClr val="1B2333"/>
      </a:accent5>
      <a:accent6>
        <a:srgbClr val="2A3448"/>
      </a:accent6>
      <a:hlink>
        <a:srgbClr val="FFCC33"/>
      </a:hlink>
      <a:folHlink>
        <a:srgbClr val="AEB6C4"/>
      </a:folHlink>
    </a:clrScheme>
    <a:fontScheme name="Hop24 Nigh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Hop 24</dc:title>
  <dc:subject>PptxGenJS Presentation</dc:subject>
  <dc:creator>Team 10</dc:creator>
  <cp:lastModifiedBy>Team 10</cp:lastModifiedBy>
  <cp:revision>1</cp:revision>
  <dcterms:created xsi:type="dcterms:W3CDTF">2026-10-02T23:06:05Z</dcterms:created>
  <dcterms:modified xsi:type="dcterms:W3CDTF">2026-10-02T23:06:05Z</dcterms:modified>
</cp:coreProperties>
</file>