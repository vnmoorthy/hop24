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I-24 Nashville footage from the team archive, and every box you see was stored by the pipeline before we touched it. Hop 24 is a video agent disguised as a game: you cross the highway as a chicken, and when a truck gets you, the agent takes over. Three minutes: the game, the kill-cam, the manhunt, the report, and the agent crossing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archive holds 414 chunks; 30 of them are I-24 highway clips from three cameras on one pole. One 30-second clip alone carries 9,294 stored YOLO boxes. Today a hit-and-run means an operator clicking through cameras by hand, while the archive already holds a Cosmos description, embeddings and every box for that clip. Hop 24 makes that archive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is the hook, but it is honest: the chicken is only hit when its rectangle intersects a YOLO box the pipeline stored months before we arrived. We fit the road direction from the boxes with PCA, so the same code works on any camera. In this run a semi, which YOLO labels as bus with 74 percent confidence, got the chicken at 2.4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you are hit, the last 2.4 seconds replay at 0.35x speed, letterboxed, with the killer's box tracked in red. Then it freezes on a cropped evidence frame with camera, segment, time, class and confidence burned in. That line is the whole handoff from game to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wrote a line of code, the DataEngine pipeline had already run Cosmos3-Reason on every 5-second segment and stored the description in VastDB. We counted: of 180 highway captions, 141 mention a vehicle colour, 48 say which lane, none give a lane number. The agent reads that description and pulls the colour word nearest the vehicle noun to build its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POST to /investigate, one hybrid search: caption vectors and visual vectors with a camera_id predicate, and VastDB returns the SQL it ran, which we put on screen. Sightings are grouped per camera as a corridor, and the strongest hit on another camera is highlighted. Be clear with the judges: this is description-similar search, candidate sightings, not vehicle re-identification.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ends with an action, not a chart. The incident report carries the event, camera and time, the detection, the stored description, the exact query, the sightings per camera, where the vehicle was last seen and a recommended action, with the evidence frame and the SQL attached. It downloads as HTML, copies as text, or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index only knows what the prompt asked for. The stock prompt gives colour but no lane numbers, so the agent sends the clip back through the DataEngine with an investigator prompt: vehicle type, colour, lane number from the left shoulder, direction, trailer, lane changes with times. It takes minutes through the real pipeline, so we pre-run it; the point is that the next search is sharper because the agent sharpened the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A and the agent plays. It estimates each vehicle's velocity by matching boxes between frames, and only hops when no box is predicted to overlap the next cell within 0.65 seconds. It never looks ahead in the data; it only reasons from detections up to the current frame. It crossed in 2.2 seconds on chunk 3, and on another run it got hit at 2.4 seconds. The chicken itself is rendered in Blender by a headless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thing is a single page talking to a 500-line stdlib Python backend, which proxies the VSS REST API so the JWT never reaches the browser; everything it reads was produced by the DataEngine pipeline and stored in VastDB. The limits are real: candidate sightings not re-id, a staged collision, slow re-describe, and only one pole. Repo and live link are on the slide;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70A0F"/>
        </a:solidFill>
      </p:bgPr>
    </p:bg>
    <p:spTree>
      <p:nvGrpSpPr>
        <p:cNvPr id="1" name=""/>
        <p:cNvGrpSpPr/>
        <p:nvPr/>
      </p:nvGrpSpPr>
      <p:grpSpPr>
        <a:xfrm>
          <a:off x="0" y="0"/>
          <a:ext cx="0" cy="0"/>
          <a:chOff x="0" y="0"/>
          <a:chExt cx="0" cy="0"/>
        </a:xfrm>
      </p:grpSpPr>
      <p:sp>
        <p:nvSpPr>
          <p:cNvPr id="2" name="Text 0"/>
          <p:cNvSpPr/>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AEB6C4"/>
                </a:solidFill>
              </a:rPr>
              <a:t>HOP 24 · Team 10 · VAST Builders Challenge 2026</a:t>
            </a:r>
            <a:endParaRPr lang="en-US" sz="90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EED">
    <p:bg>
      <p:bgPr>
        <a:solidFill>
          <a:srgbClr val="070A0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24 highway frame with YOLO boxes" descr="/private/tmp/claude-501/-Users-moorthy-Downloads-Projects-Vast-builders-challenge/7304a5c7-b157-4453-b023-e17c033f4df9/scratchpad/deck/img/hero_clean.jpg">    </p:cNvPr>
          <p:cNvPicPr>
            <a:picLocks noChangeAspect="1"/>
          </p:cNvPicPr>
          <p:nvPr/>
        </p:nvPicPr>
        <p:blipFill>
          <a:blip r:embed="rId1"/>
          <a:srcRect l="0" r="0" t="0" b="0"/>
          <a:stretch/>
        </p:blipFill>
        <p:spPr>
          <a:xfrm>
            <a:off x="0" y="0"/>
            <a:ext cx="9144000" cy="4000500"/>
          </a:xfrm>
          <a:prstGeom prst="rect">
            <a:avLst/>
          </a:prstGeom>
        </p:spPr>
      </p:pic>
      <p:sp>
        <p:nvSpPr>
          <p:cNvPr id="3" name="Letterbox"/>
          <p:cNvSpPr/>
          <p:nvPr/>
        </p:nvSpPr>
        <p:spPr>
          <a:xfrm>
            <a:off x="0" y="4000500"/>
            <a:ext cx="9144000" cy="1143000"/>
          </a:xfrm>
          <a:prstGeom prst="rect">
            <a:avLst/>
          </a:prstGeom>
          <a:solidFill>
            <a:srgbClr val="070A0F"/>
          </a:solidFill>
          <a:ln w="12700">
            <a:solidFill>
              <a:srgbClr val="070A0F"/>
            </a:solidFill>
            <a:prstDash val="solid"/>
          </a:ln>
        </p:spPr>
      </p:sp>
      <p:sp>
        <p:nvSpPr>
          <p:cNvPr id="4" name="Poster shade"/>
          <p:cNvSpPr/>
          <p:nvPr/>
        </p:nvSpPr>
        <p:spPr>
          <a:xfrm>
            <a:off x="0" y="2651760"/>
            <a:ext cx="9144000" cy="1371600"/>
          </a:xfrm>
          <a:prstGeom prst="rect">
            <a:avLst/>
          </a:prstGeom>
          <a:solidFill>
            <a:srgbClr val="000000">
              <a:alpha val="55000"/>
            </a:srgbClr>
          </a:solidFill>
          <a:ln w="12700">
            <a:solidFill>
              <a:srgbClr val="000000">
                <a:alpha val="0"/>
              </a:srgbClr>
            </a:solidFill>
            <a:prstDash val="solid"/>
          </a:ln>
        </p:spPr>
      </p:sp>
      <p:sp>
        <p:nvSpPr>
          <p:cNvPr id="5" name="Title"/>
          <p:cNvSpPr txBox="1"/>
          <p:nvPr/>
        </p:nvSpPr>
        <p:spPr>
          <a:xfrm>
            <a:off x="457200" y="2514600"/>
            <a:ext cx="5486400" cy="1005840"/>
          </a:xfrm>
          <a:prstGeom prst="rect">
            <a:avLst/>
          </a:prstGeom>
          <a:noFill/>
          <a:ln/>
        </p:spPr>
        <p:txBody>
          <a:bodyPr wrap="square" lIns="0" tIns="0" rIns="0" bIns="0" rtlCol="0" anchor="ctr"/>
          <a:lstStyle/>
          <a:p>
            <a:pPr indent="0" marL="0">
              <a:buNone/>
            </a:pPr>
            <a:r>
              <a:rPr lang="en-US" sz="7200" b="1" spc="600" kern="0" dirty="0">
                <a:solidFill>
                  <a:srgbClr val="FFCC33"/>
                </a:solidFill>
              </a:rPr>
              <a:t>HOP 24</a:t>
            </a:r>
            <a:endParaRPr lang="en-US" sz="7200" dirty="0"/>
          </a:p>
        </p:txBody>
      </p:sp>
      <p:sp>
        <p:nvSpPr>
          <p:cNvPr id="6" name="Tagline"/>
          <p:cNvSpPr txBox="1"/>
          <p:nvPr/>
        </p:nvSpPr>
        <p:spPr>
          <a:xfrm>
            <a:off x="457200" y="3474720"/>
            <a:ext cx="8229600" cy="457200"/>
          </a:xfrm>
          <a:prstGeom prst="rect">
            <a:avLst/>
          </a:prstGeom>
          <a:noFill/>
          <a:ln/>
        </p:spPr>
        <p:txBody>
          <a:bodyPr wrap="square" lIns="0" tIns="0" rIns="0" bIns="0" rtlCol="0" anchor="ctr"/>
          <a:lstStyle/>
          <a:p>
            <a:pPr indent="0" marL="0">
              <a:buNone/>
            </a:pPr>
            <a:r>
              <a:rPr lang="en-US" sz="2400" b="1" dirty="0">
                <a:solidFill>
                  <a:srgbClr val="FFFFFF"/>
                </a:solidFill>
              </a:rPr>
              <a:t>Cross a real highway. The archive is watching.</a:t>
            </a:r>
            <a:endParaRPr lang="en-US" sz="2400" dirty="0"/>
          </a:p>
        </p:txBody>
      </p:sp>
      <p:sp>
        <p:nvSpPr>
          <p:cNvPr id="7" name="Event"/>
          <p:cNvSpPr txBox="1"/>
          <p:nvPr/>
        </p:nvSpPr>
        <p:spPr>
          <a:xfrm>
            <a:off x="457200" y="4251960"/>
            <a:ext cx="6858000" cy="320040"/>
          </a:xfrm>
          <a:prstGeom prst="rect">
            <a:avLst/>
          </a:prstGeom>
          <a:noFill/>
          <a:ln/>
        </p:spPr>
        <p:txBody>
          <a:bodyPr wrap="square" lIns="0" tIns="0" rIns="0" bIns="0" rtlCol="0" anchor="ctr"/>
          <a:lstStyle/>
          <a:p>
            <a:pPr indent="0" marL="0">
              <a:buNone/>
            </a:pPr>
            <a:r>
              <a:rPr lang="en-US" sz="1300" dirty="0">
                <a:solidFill>
                  <a:srgbClr val="AEB6C4"/>
                </a:solidFill>
              </a:rPr>
              <a:t>Team 10  ·  VAST Builders Challenge 2026  ·  Real-Time Video Agents Hack, SF</a:t>
            </a:r>
            <a:endParaRPr lang="en-US" sz="1300" dirty="0"/>
          </a:p>
        </p:txBody>
      </p:sp>
      <p:sp>
        <p:nvSpPr>
          <p:cNvPr id="8" name="Stack"/>
          <p:cNvSpPr txBox="1"/>
          <p:nvPr/>
        </p:nvSpPr>
        <p:spPr>
          <a:xfrm>
            <a:off x="457200" y="4572000"/>
            <a:ext cx="6858000" cy="274320"/>
          </a:xfrm>
          <a:prstGeom prst="rect">
            <a:avLst/>
          </a:prstGeom>
          <a:noFill/>
          <a:ln/>
        </p:spPr>
        <p:txBody>
          <a:bodyPr wrap="square" lIns="0" tIns="0" rIns="0" bIns="0" rtlCol="0" anchor="ctr"/>
          <a:lstStyle/>
          <a:p>
            <a:pPr indent="0" marL="0">
              <a:buNone/>
            </a:pPr>
            <a:r>
              <a:rPr lang="en-US" sz="1100" dirty="0">
                <a:solidFill>
                  <a:srgbClr val="FFCC33"/>
                </a:solidFill>
              </a:rPr>
              <a:t>VAST AI OS · NVIDIA Cosmos + YOLO11 · CoreWeave</a:t>
            </a:r>
            <a:endParaRPr lang="en-US" sz="1100" dirty="0"/>
          </a:p>
        </p:txBody>
      </p:sp>
      <p:sp>
        <p:nvSpPr>
          <p:cNvPr id="9" name="Repo"/>
          <p:cNvSpPr txBox="1"/>
          <p:nvPr/>
        </p:nvSpPr>
        <p:spPr>
          <a:xfrm>
            <a:off x="5943600" y="4251960"/>
            <a:ext cx="2743200" cy="320040"/>
          </a:xfrm>
          <a:prstGeom prst="rect">
            <a:avLst/>
          </a:prstGeom>
          <a:noFill/>
          <a:ln/>
        </p:spPr>
        <p:txBody>
          <a:bodyPr wrap="square" lIns="0" tIns="0" rIns="0" bIns="0" rtlCol="0" anchor="ctr"/>
          <a:lstStyle/>
          <a:p>
            <a:pPr algn="r" indent="0" marL="0">
              <a:buNone/>
            </a:pPr>
            <a:r>
              <a:rPr lang="en-US" sz="1200" dirty="0">
                <a:solidFill>
                  <a:srgbClr val="AEB6C4"/>
                </a:solidFill>
              </a:rPr>
              <a:t>github.com/vnmoorthy/hop24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300" kern="0" dirty="0">
                <a:solidFill>
                  <a:srgbClr val="FFCC33"/>
                </a:solidFill>
              </a:rPr>
              <a:t>THE PROBLEM</a:t>
            </a:r>
            <a:endParaRPr lang="en-US" sz="1000" dirty="0"/>
          </a:p>
        </p:txBody>
      </p:sp>
      <p:sp>
        <p:nvSpPr>
          <p:cNvPr id="3" name="Title"/>
          <p:cNvSpPr txBox="1"/>
          <p:nvPr/>
        </p:nvSpPr>
        <p:spPr>
          <a:xfrm>
            <a:off x="457200" y="365760"/>
            <a:ext cx="8412480" cy="548640"/>
          </a:xfrm>
          <a:prstGeom prst="rect">
            <a:avLst/>
          </a:prstGeom>
          <a:noFill/>
          <a:ln/>
        </p:spPr>
        <p:txBody>
          <a:bodyPr wrap="square" lIns="0" tIns="0" rIns="0" bIns="0" rtlCol="0" anchor="ctr"/>
          <a:lstStyle/>
          <a:p>
            <a:pPr indent="0" marL="0">
              <a:buNone/>
            </a:pPr>
            <a:r>
              <a:rPr lang="en-US" sz="2800" b="1" dirty="0">
                <a:solidFill>
                  <a:srgbClr val="FFFFFF"/>
                </a:solidFill>
              </a:rPr>
              <a:t>Nobody watches the archive</a:t>
            </a:r>
            <a:endParaRPr lang="en-US" sz="2800" dirty="0"/>
          </a:p>
        </p:txBody>
      </p:sp>
      <p:sp>
        <p:nvSpPr>
          <p:cNvPr id="4" name="Card"/>
          <p:cNvSpPr/>
          <p:nvPr/>
        </p:nvSpPr>
        <p:spPr>
          <a:xfrm>
            <a:off x="457200" y="1234440"/>
            <a:ext cx="1417320" cy="1325880"/>
          </a:xfrm>
          <a:prstGeom prst="roundRect">
            <a:avLst>
              <a:gd name="adj" fmla="val 5517"/>
            </a:avLst>
          </a:prstGeom>
          <a:solidFill>
            <a:srgbClr val="121826"/>
          </a:solidFill>
          <a:ln w="9525">
            <a:solidFill>
              <a:srgbClr val="202A3D"/>
            </a:solidFill>
            <a:prstDash val="solid"/>
          </a:ln>
        </p:spPr>
      </p:sp>
      <p:sp>
        <p:nvSpPr>
          <p:cNvPr id="5" name="Stat"/>
          <p:cNvSpPr txBox="1"/>
          <p:nvPr/>
        </p:nvSpPr>
        <p:spPr>
          <a:xfrm>
            <a:off x="594360" y="1325880"/>
            <a:ext cx="1143000" cy="731520"/>
          </a:xfrm>
          <a:prstGeom prst="rect">
            <a:avLst/>
          </a:prstGeom>
          <a:noFill/>
          <a:ln/>
        </p:spPr>
        <p:txBody>
          <a:bodyPr wrap="square" lIns="0" tIns="0" rIns="0" bIns="0" rtlCol="0" anchor="ctr"/>
          <a:lstStyle/>
          <a:p>
            <a:pPr indent="0" marL="0">
              <a:buNone/>
            </a:pPr>
            <a:r>
              <a:rPr lang="en-US" sz="3000" b="1" dirty="0">
                <a:solidFill>
                  <a:srgbClr val="FFCC33"/>
                </a:solidFill>
              </a:rPr>
              <a:t>414</a:t>
            </a:r>
            <a:endParaRPr lang="en-US" sz="3000" dirty="0"/>
          </a:p>
        </p:txBody>
      </p:sp>
      <p:sp>
        <p:nvSpPr>
          <p:cNvPr id="6" name="Stat label"/>
          <p:cNvSpPr txBox="1"/>
          <p:nvPr/>
        </p:nvSpPr>
        <p:spPr>
          <a:xfrm>
            <a:off x="594360" y="2039112"/>
            <a:ext cx="1143000" cy="457200"/>
          </a:xfrm>
          <a:prstGeom prst="rect">
            <a:avLst/>
          </a:prstGeom>
          <a:noFill/>
          <a:ln/>
        </p:spPr>
        <p:txBody>
          <a:bodyPr wrap="square" lIns="0" tIns="0" rIns="0" bIns="0" rtlCol="0" anchor="t"/>
          <a:lstStyle/>
          <a:p>
            <a:pPr indent="0" marL="0">
              <a:buNone/>
            </a:pPr>
            <a:r>
              <a:rPr lang="en-US" sz="1100" dirty="0">
                <a:solidFill>
                  <a:srgbClr val="AEB6C4"/>
                </a:solidFill>
              </a:rPr>
              <a:t>video chunks indexed in the team archive</a:t>
            </a:r>
            <a:endParaRPr lang="en-US" sz="1100" dirty="0"/>
          </a:p>
        </p:txBody>
      </p:sp>
      <p:sp>
        <p:nvSpPr>
          <p:cNvPr id="7" name="Card"/>
          <p:cNvSpPr/>
          <p:nvPr/>
        </p:nvSpPr>
        <p:spPr>
          <a:xfrm>
            <a:off x="2011680" y="1234440"/>
            <a:ext cx="1417320" cy="1325880"/>
          </a:xfrm>
          <a:prstGeom prst="roundRect">
            <a:avLst>
              <a:gd name="adj" fmla="val 5517"/>
            </a:avLst>
          </a:prstGeom>
          <a:solidFill>
            <a:srgbClr val="121826"/>
          </a:solidFill>
          <a:ln w="9525">
            <a:solidFill>
              <a:srgbClr val="202A3D"/>
            </a:solidFill>
            <a:prstDash val="solid"/>
          </a:ln>
        </p:spPr>
      </p:sp>
      <p:sp>
        <p:nvSpPr>
          <p:cNvPr id="8" name="Stat"/>
          <p:cNvSpPr txBox="1"/>
          <p:nvPr/>
        </p:nvSpPr>
        <p:spPr>
          <a:xfrm>
            <a:off x="2148840" y="1325880"/>
            <a:ext cx="1143000" cy="731520"/>
          </a:xfrm>
          <a:prstGeom prst="rect">
            <a:avLst/>
          </a:prstGeom>
          <a:noFill/>
          <a:ln/>
        </p:spPr>
        <p:txBody>
          <a:bodyPr wrap="square" lIns="0" tIns="0" rIns="0" bIns="0" rtlCol="0" anchor="ctr"/>
          <a:lstStyle/>
          <a:p>
            <a:pPr indent="0" marL="0">
              <a:buNone/>
            </a:pPr>
            <a:r>
              <a:rPr lang="en-US" sz="3000" b="1" dirty="0">
                <a:solidFill>
                  <a:srgbClr val="FFCC33"/>
                </a:solidFill>
              </a:rPr>
              <a:t>30</a:t>
            </a:r>
            <a:endParaRPr lang="en-US" sz="3000" dirty="0"/>
          </a:p>
        </p:txBody>
      </p:sp>
      <p:sp>
        <p:nvSpPr>
          <p:cNvPr id="9" name="Stat label"/>
          <p:cNvSpPr txBox="1"/>
          <p:nvPr/>
        </p:nvSpPr>
        <p:spPr>
          <a:xfrm>
            <a:off x="2148840" y="2039112"/>
            <a:ext cx="1143000" cy="457200"/>
          </a:xfrm>
          <a:prstGeom prst="rect">
            <a:avLst/>
          </a:prstGeom>
          <a:noFill/>
          <a:ln/>
        </p:spPr>
        <p:txBody>
          <a:bodyPr wrap="square" lIns="0" tIns="0" rIns="0" bIns="0" rtlCol="0" anchor="t"/>
          <a:lstStyle/>
          <a:p>
            <a:pPr indent="0" marL="0">
              <a:buNone/>
            </a:pPr>
            <a:r>
              <a:rPr lang="en-US" sz="1100" dirty="0">
                <a:solidFill>
                  <a:srgbClr val="AEB6C4"/>
                </a:solidFill>
              </a:rPr>
              <a:t>I-24 highway clips, 3 cameras on one pole</a:t>
            </a:r>
            <a:endParaRPr lang="en-US" sz="1100" dirty="0"/>
          </a:p>
        </p:txBody>
      </p:sp>
      <p:sp>
        <p:nvSpPr>
          <p:cNvPr id="10" name="Card"/>
          <p:cNvSpPr/>
          <p:nvPr/>
        </p:nvSpPr>
        <p:spPr>
          <a:xfrm>
            <a:off x="3520440" y="1234440"/>
            <a:ext cx="1417320" cy="1325880"/>
          </a:xfrm>
          <a:prstGeom prst="roundRect">
            <a:avLst>
              <a:gd name="adj" fmla="val 5517"/>
            </a:avLst>
          </a:prstGeom>
          <a:solidFill>
            <a:srgbClr val="121826"/>
          </a:solidFill>
          <a:ln w="9525">
            <a:solidFill>
              <a:srgbClr val="202A3D"/>
            </a:solidFill>
            <a:prstDash val="solid"/>
          </a:ln>
        </p:spPr>
      </p:sp>
      <p:sp>
        <p:nvSpPr>
          <p:cNvPr id="11" name="Stat"/>
          <p:cNvSpPr txBox="1"/>
          <p:nvPr/>
        </p:nvSpPr>
        <p:spPr>
          <a:xfrm>
            <a:off x="3657600" y="1325880"/>
            <a:ext cx="1143000" cy="731520"/>
          </a:xfrm>
          <a:prstGeom prst="rect">
            <a:avLst/>
          </a:prstGeom>
          <a:noFill/>
          <a:ln/>
        </p:spPr>
        <p:txBody>
          <a:bodyPr wrap="square" lIns="0" tIns="0" rIns="0" bIns="0" rtlCol="0" anchor="ctr"/>
          <a:lstStyle/>
          <a:p>
            <a:pPr indent="0" marL="0">
              <a:buNone/>
            </a:pPr>
            <a:r>
              <a:rPr lang="en-US" sz="3000" b="1" dirty="0">
                <a:solidFill>
                  <a:srgbClr val="FFCC33"/>
                </a:solidFill>
              </a:rPr>
              <a:t>9,294</a:t>
            </a:r>
            <a:endParaRPr lang="en-US" sz="3000" dirty="0"/>
          </a:p>
        </p:txBody>
      </p:sp>
      <p:sp>
        <p:nvSpPr>
          <p:cNvPr id="12" name="Stat label"/>
          <p:cNvSpPr txBox="1"/>
          <p:nvPr/>
        </p:nvSpPr>
        <p:spPr>
          <a:xfrm>
            <a:off x="3657600" y="2039112"/>
            <a:ext cx="1143000" cy="457200"/>
          </a:xfrm>
          <a:prstGeom prst="rect">
            <a:avLst/>
          </a:prstGeom>
          <a:noFill/>
          <a:ln/>
        </p:spPr>
        <p:txBody>
          <a:bodyPr wrap="square" lIns="0" tIns="0" rIns="0" bIns="0" rtlCol="0" anchor="t"/>
          <a:lstStyle/>
          <a:p>
            <a:pPr indent="0" marL="0">
              <a:buNone/>
            </a:pPr>
            <a:r>
              <a:rPr lang="en-US" sz="1100" dirty="0">
                <a:solidFill>
                  <a:srgbClr val="AEB6C4"/>
                </a:solidFill>
              </a:rPr>
              <a:t>YOLO boxes in one 30-second clip</a:t>
            </a:r>
            <a:endParaRPr lang="en-US" sz="1100" dirty="0"/>
          </a:p>
        </p:txBody>
      </p:sp>
      <p:sp>
        <p:nvSpPr>
          <p:cNvPr id="13" name="Body"/>
          <p:cNvSpPr txBox="1"/>
          <p:nvPr/>
        </p:nvSpPr>
        <p:spPr>
          <a:xfrm>
            <a:off x="457200" y="2788920"/>
            <a:ext cx="4480560" cy="19202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rPr>
              <a:t>A vehicle hits someone and keeps going.</a:t>
            </a:r>
            <a:endParaRPr lang="en-US" sz="1400" dirty="0"/>
          </a:p>
          <a:p>
            <a:pPr marL="177800" indent="-177800">
              <a:spcAft>
                <a:spcPts val="800"/>
              </a:spcAft>
              <a:buSzPct val="100000"/>
              <a:buChar char="•"/>
            </a:pPr>
            <a:r>
              <a:rPr lang="en-US" sz="1400" dirty="0">
                <a:solidFill>
                  <a:srgbClr val="FFFFFF"/>
                </a:solidFill>
              </a:rPr>
              <a:t>An operator opens cameras one by one and scrubs 30-second clips by hand.</a:t>
            </a:r>
            <a:endParaRPr lang="en-US" sz="1400" dirty="0"/>
          </a:p>
          <a:p>
            <a:pPr marL="177800" indent="-177800">
              <a:spcAft>
                <a:spcPts val="800"/>
              </a:spcAft>
              <a:buSzPct val="100000"/>
              <a:buChar char="•"/>
            </a:pPr>
            <a:r>
              <a:rPr lang="en-US" sz="1400" dirty="0">
                <a:solidFill>
                  <a:srgbClr val="FFFFFF"/>
                </a:solidFill>
              </a:rPr>
              <a:t>Yet the pipeline already wrote a description, vectors and 9,294 boxes for that clip into VastDB. The knowledge exists; nobody asks it anything.</a:t>
            </a:r>
            <a:endParaRPr lang="en-US" sz="1400" dirty="0"/>
          </a:p>
        </p:txBody>
      </p:sp>
      <p:pic>
        <p:nvPicPr>
          <p:cNvPr id="14" name="Intro screen over real I-24 footage" descr="/private/tmp/claude-501/-Users-moorthy-Downloads-Projects-Vast-builders-challenge/7304a5c7-b157-4453-b023-e17c033f4df9/scratchpad/deck/img/intro_game.jpg">    </p:cNvPr>
          <p:cNvPicPr>
            <a:picLocks noChangeAspect="1"/>
          </p:cNvPicPr>
          <p:nvPr/>
        </p:nvPicPr>
        <p:blipFill>
          <a:blip r:embed="rId1"/>
          <a:stretch>
            <a:fillRect/>
          </a:stretch>
        </p:blipFill>
        <p:spPr>
          <a:xfrm>
            <a:off x="5212080" y="1234440"/>
            <a:ext cx="3474720" cy="1929384"/>
          </a:xfrm>
          <a:prstGeom prst="rect">
            <a:avLst/>
          </a:prstGeom>
        </p:spPr>
      </p:pic>
      <p:sp>
        <p:nvSpPr>
          <p:cNvPr id="15" name="Caption"/>
          <p:cNvSpPr txBox="1"/>
          <p:nvPr/>
        </p:nvSpPr>
        <p:spPr>
          <a:xfrm>
            <a:off x="5212080" y="3200400"/>
            <a:ext cx="3474720" cy="274320"/>
          </a:xfrm>
          <a:prstGeom prst="rect">
            <a:avLst/>
          </a:prstGeom>
          <a:noFill/>
          <a:ln/>
        </p:spPr>
        <p:txBody>
          <a:bodyPr wrap="square" lIns="0" tIns="0" rIns="0" bIns="0" rtlCol="0" anchor="ctr"/>
          <a:lstStyle/>
          <a:p>
            <a:pPr indent="0" marL="0">
              <a:buNone/>
            </a:pPr>
            <a:r>
              <a:rPr lang="en-US" sz="900" i="1" dirty="0">
                <a:solidFill>
                  <a:srgbClr val="AEB6C4"/>
                </a:solidFill>
              </a:rPr>
              <a:t>scene1_p1c2 · chunk_0003 · 6 segments · 9,294 detections stored by the pipeline</a:t>
            </a:r>
            <a:endParaRPr lang="en-US" sz="900" dirty="0"/>
          </a:p>
        </p:txBody>
      </p:sp>
      <p:pic>
        <p:nvPicPr>
          <p:cNvPr id="16" name="Evidence frame" descr="/private/tmp/claude-501/-Users-moorthy-Downloads-Projects-Vast-builders-challenge/7304a5c7-b157-4453-b023-e17c033f4df9/scratchpad/deck/img/evidence.jpg">    </p:cNvPr>
          <p:cNvPicPr>
            <a:picLocks noChangeAspect="1"/>
          </p:cNvPicPr>
          <p:nvPr/>
        </p:nvPicPr>
        <p:blipFill>
          <a:blip r:embed="rId2"/>
          <a:stretch>
            <a:fillRect/>
          </a:stretch>
        </p:blipFill>
        <p:spPr>
          <a:xfrm>
            <a:off x="5212080" y="3520440"/>
            <a:ext cx="1600200" cy="1197864"/>
          </a:xfrm>
          <a:prstGeom prst="rect">
            <a:avLst/>
          </a:prstGeom>
        </p:spPr>
      </p:pic>
      <p:sp>
        <p:nvSpPr>
          <p:cNvPr id="17" name="Detection facts"/>
          <p:cNvSpPr txBox="1"/>
          <p:nvPr/>
        </p:nvSpPr>
        <p:spPr>
          <a:xfrm>
            <a:off x="6949440" y="3520440"/>
            <a:ext cx="1737360" cy="1197864"/>
          </a:xfrm>
          <a:prstGeom prst="rect">
            <a:avLst/>
          </a:prstGeom>
          <a:noFill/>
          <a:ln/>
        </p:spPr>
        <p:txBody>
          <a:bodyPr wrap="square" lIns="0" tIns="0" rIns="0" bIns="0" rtlCol="0" anchor="ctr"/>
          <a:lstStyle/>
          <a:p>
            <a:pPr indent="0" marL="0">
              <a:buNone/>
            </a:pPr>
            <a:r>
              <a:rPr lang="en-US" sz="1000" dirty="0">
                <a:solidFill>
                  <a:srgbClr val="AEB6C4"/>
                </a:solidFill>
              </a:rPr>
              <a:t>1920×1080 @ 30 fps</a:t>
            </a:r>
            <a:endParaRPr lang="en-US" sz="1000" dirty="0"/>
          </a:p>
          <a:p>
            <a:pPr indent="0" marL="0">
              <a:buNone/>
            </a:pPr>
            <a:r>
              <a:rPr lang="en-US" sz="1000" dirty="0">
                <a:solidFill>
                  <a:srgbClr val="AEB6C4"/>
                </a:solidFill>
              </a:rPr>
              <a:t>150 frames per 5 s segment</a:t>
            </a:r>
            <a:endParaRPr lang="en-US" sz="1000" dirty="0"/>
          </a:p>
          <a:p>
            <a:pPr indent="0" marL="0">
              <a:buNone/>
            </a:pPr>
            <a:r>
              <a:rPr lang="en-US" sz="1000" dirty="0">
                <a:solidFill>
                  <a:srgbClr val="AEB6C4"/>
                </a:solidFill>
              </a:rPr>
              <a:t>classes: car, truck, bus</a:t>
            </a:r>
            <a:endParaRPr lang="en-US" sz="1000" dirty="0"/>
          </a:p>
          <a:p>
            <a:pPr indent="0" marL="0">
              <a:buNone/>
            </a:pPr>
            <a:r>
              <a:rPr lang="en-US" sz="1000" dirty="0">
                <a:solidFill>
                  <a:srgbClr val="AEB6C4"/>
                </a:solidFill>
              </a:rPr>
              <a:t>bbox [x1,y1,x2,y2] px</a:t>
            </a:r>
            <a:endParaRPr lang="en-US" sz="100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300" kern="0" dirty="0">
                <a:solidFill>
                  <a:srgbClr val="FFCC33"/>
                </a:solidFill>
              </a:rPr>
              <a:t>THE IDEA</a:t>
            </a:r>
            <a:endParaRPr lang="en-US" sz="1000" dirty="0"/>
          </a:p>
        </p:txBody>
      </p:sp>
      <p:sp>
        <p:nvSpPr>
          <p:cNvPr id="3" name="Title"/>
          <p:cNvSpPr txBox="1"/>
          <p:nvPr/>
        </p:nvSpPr>
        <p:spPr>
          <a:xfrm>
            <a:off x="457200" y="365760"/>
            <a:ext cx="8412480" cy="548640"/>
          </a:xfrm>
          <a:prstGeom prst="rect">
            <a:avLst/>
          </a:prstGeom>
          <a:noFill/>
          <a:ln/>
        </p:spPr>
        <p:txBody>
          <a:bodyPr wrap="square" lIns="0" tIns="0" rIns="0" bIns="0" rtlCol="0" anchor="ctr"/>
          <a:lstStyle/>
          <a:p>
            <a:pPr indent="0" marL="0">
              <a:buNone/>
            </a:pPr>
            <a:r>
              <a:rPr lang="en-US" sz="2800" b="1" dirty="0">
                <a:solidFill>
                  <a:srgbClr val="FFFFFF"/>
                </a:solidFill>
              </a:rPr>
              <a:t>A game you cannot fake</a:t>
            </a:r>
            <a:endParaRPr lang="en-US" sz="2800" dirty="0"/>
          </a:p>
        </p:txBody>
      </p:sp>
      <p:sp>
        <p:nvSpPr>
          <p:cNvPr id="4" name="Body"/>
          <p:cNvSpPr txBox="1"/>
          <p:nvPr/>
        </p:nvSpPr>
        <p:spPr>
          <a:xfrm>
            <a:off x="457200" y="1188720"/>
            <a:ext cx="3657600" cy="3474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FFFFFF"/>
                </a:solidFill>
              </a:rPr>
              <a:t>Every vehicle on screen is a stored YOLO11 box, drawn frame-synchronously from the VastDB detections sidecar.</a:t>
            </a:r>
            <a:endParaRPr lang="en-US" sz="1300" dirty="0"/>
          </a:p>
          <a:p>
            <a:pPr marL="177800" indent="-177800">
              <a:spcAft>
                <a:spcPts val="800"/>
              </a:spcAft>
              <a:buSzPct val="100000"/>
              <a:buChar char="•"/>
            </a:pPr>
            <a:r>
              <a:rPr lang="en-US" sz="1300" dirty="0">
                <a:solidFill>
                  <a:srgbClr val="FFFFFF"/>
                </a:solidFill>
              </a:rPr>
              <a:t>Collision = chicken rectangle intersects any vehicle box. The archive's detections ARE the physics.</a:t>
            </a:r>
            <a:endParaRPr lang="en-US" sz="1300" dirty="0"/>
          </a:p>
          <a:p>
            <a:pPr marL="177800" indent="-177800">
              <a:spcAft>
                <a:spcPts val="800"/>
              </a:spcAft>
              <a:buSzPct val="100000"/>
              <a:buChar char="•"/>
            </a:pPr>
            <a:r>
              <a:rPr lang="en-US" sz="1300" dirty="0">
                <a:solidFill>
                  <a:srgbClr val="FFFFFF"/>
                </a:solidFill>
              </a:rPr>
              <a:t>The road axis is fitted from the boxes themselves (PCA of box centres), so the chicken spawns on the near shoulder and the goal is the far edge.</a:t>
            </a:r>
            <a:endParaRPr lang="en-US" sz="1300" dirty="0"/>
          </a:p>
          <a:p>
            <a:pPr marL="177800" indent="-177800">
              <a:spcAft>
                <a:spcPts val="800"/>
              </a:spcAft>
              <a:buSzPct val="100000"/>
              <a:buChar char="•"/>
            </a:pPr>
            <a:r>
              <a:rPr lang="en-US" sz="1300" dirty="0">
                <a:solidFill>
                  <a:srgbClr val="FFFFFF"/>
                </a:solidFill>
              </a:rPr>
              <a:t>Nothing is scripted: when you get hit, a real box hit you.</a:t>
            </a:r>
            <a:endParaRPr lang="en-US" sz="1300" dirty="0"/>
          </a:p>
        </p:txBody>
      </p:sp>
      <p:pic>
        <p:nvPicPr>
          <p:cNvPr id="5" name="SPLAT: killed by a bus (74%) after 2.4 s" descr="/private/tmp/claude-501/-Users-moorthy-Downloads-Projects-Vast-builders-challenge/7304a5c7-b157-4453-b023-e17c033f4df9/scratchpad/deck/img/splat_game.jpg">    </p:cNvPr>
          <p:cNvPicPr>
            <a:picLocks noChangeAspect="1"/>
          </p:cNvPicPr>
          <p:nvPr/>
        </p:nvPicPr>
        <p:blipFill>
          <a:blip r:embed="rId1"/>
          <a:stretch>
            <a:fillRect/>
          </a:stretch>
        </p:blipFill>
        <p:spPr>
          <a:xfrm>
            <a:off x="4389120" y="1188720"/>
            <a:ext cx="4297680" cy="2386584"/>
          </a:xfrm>
          <a:prstGeom prst="rect">
            <a:avLst/>
          </a:prstGeom>
        </p:spPr>
      </p:pic>
      <p:sp>
        <p:nvSpPr>
          <p:cNvPr id="6" name="Caption"/>
          <p:cNvSpPr txBox="1"/>
          <p:nvPr/>
        </p:nvSpPr>
        <p:spPr>
          <a:xfrm>
            <a:off x="4389120" y="3611880"/>
            <a:ext cx="4297680" cy="274320"/>
          </a:xfrm>
          <a:prstGeom prst="rect">
            <a:avLst/>
          </a:prstGeom>
          <a:noFill/>
          <a:ln/>
        </p:spPr>
        <p:txBody>
          <a:bodyPr wrap="square" lIns="0" tIns="0" rIns="0" bIns="0" rtlCol="0" anchor="ctr"/>
          <a:lstStyle/>
          <a:p>
            <a:pPr indent="0" marL="0">
              <a:buNone/>
            </a:pPr>
            <a:r>
              <a:rPr lang="en-US" sz="900" i="1" dirty="0">
                <a:solidFill>
                  <a:srgbClr val="AEB6C4"/>
                </a:solidFill>
              </a:rPr>
              <a:t>“the agent was killed by a bus (74% sure) after 2.4 s” — a semi the detector labelled bus</a:t>
            </a:r>
            <a:endParaRPr lang="en-US" sz="900" dirty="0"/>
          </a:p>
        </p:txBody>
      </p:sp>
      <p:sp>
        <p:nvSpPr>
          <p:cNvPr id="7" name="Code"/>
          <p:cNvSpPr txBox="1"/>
          <p:nvPr/>
        </p:nvSpPr>
        <p:spPr>
          <a:xfrm>
            <a:off x="4389120" y="3977640"/>
            <a:ext cx="4297680" cy="457200"/>
          </a:xfrm>
          <a:prstGeom prst="rect">
            <a:avLst/>
          </a:prstGeom>
          <a:solidFill>
            <a:srgbClr val="0B0F17"/>
          </a:solidFill>
          <a:ln w="9525">
            <a:solidFill>
              <a:srgbClr val="202A3D"/>
            </a:solidFill>
          </a:ln>
        </p:spPr>
        <p:txBody>
          <a:bodyPr wrap="square" lIns="1016" tIns="1016" rIns="1016" bIns="1016" rtlCol="0" anchor="ctr"/>
          <a:lstStyle/>
          <a:p>
            <a:pPr indent="0" marL="0">
              <a:buNone/>
            </a:pPr>
            <a:r>
              <a:rPr lang="en-US" sz="1000" dirty="0">
                <a:solidFill>
                  <a:srgbClr val="FFCC33"/>
                </a:solidFill>
                <a:latin typeface="Courier New" pitchFamily="34" charset="0"/>
                <a:ea typeface="Courier New" pitchFamily="34" charset="-122"/>
                <a:cs typeface="Courier New" pitchFamily="34" charset="-120"/>
              </a:rPr>
              <a:t>GET /boxes → 150 frames × {label, confidence, bbox xyxy}  ·  binary search by time_sec</a:t>
            </a:r>
            <a:endParaRPr lang="en-US" sz="100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300" kern="0" dirty="0">
                <a:solidFill>
                  <a:srgbClr val="FFCC33"/>
                </a:solidFill>
              </a:rPr>
              <a:t>KILL-CAM</a:t>
            </a:r>
            <a:endParaRPr lang="en-US" sz="1000" dirty="0"/>
          </a:p>
        </p:txBody>
      </p:sp>
      <p:sp>
        <p:nvSpPr>
          <p:cNvPr id="3" name="Title"/>
          <p:cNvSpPr txBox="1"/>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FFFFFF"/>
                </a:solidFill>
              </a:rPr>
              <a:t>Slow-motion replay, then the evidence frame</a:t>
            </a:r>
            <a:endParaRPr lang="en-US" sz="2800" dirty="0"/>
          </a:p>
        </p:txBody>
      </p:sp>
      <p:pic>
        <p:nvPicPr>
          <p:cNvPr id="4" name="Letterboxed slow-motion replay" descr="/private/tmp/claude-501/-Users-moorthy-Downloads-Projects-Vast-builders-challenge/7304a5c7-b157-4453-b023-e17c033f4df9/scratchpad/deck/img/replay_game.jpg">    </p:cNvPr>
          <p:cNvPicPr>
            <a:picLocks noChangeAspect="1"/>
          </p:cNvPicPr>
          <p:nvPr/>
        </p:nvPicPr>
        <p:blipFill>
          <a:blip r:embed="rId1"/>
          <a:stretch>
            <a:fillRect/>
          </a:stretch>
        </p:blipFill>
        <p:spPr>
          <a:xfrm>
            <a:off x="457200" y="1188720"/>
            <a:ext cx="3931920" cy="2185416"/>
          </a:xfrm>
          <a:prstGeom prst="rect">
            <a:avLst/>
          </a:prstGeom>
        </p:spPr>
      </p:pic>
      <p:sp>
        <p:nvSpPr>
          <p:cNvPr id="5" name="Caption"/>
          <p:cNvSpPr txBox="1"/>
          <p:nvPr/>
        </p:nvSpPr>
        <p:spPr>
          <a:xfrm>
            <a:off x="457200" y="3401568"/>
            <a:ext cx="3931920" cy="274320"/>
          </a:xfrm>
          <a:prstGeom prst="rect">
            <a:avLst/>
          </a:prstGeom>
          <a:noFill/>
          <a:ln/>
        </p:spPr>
        <p:txBody>
          <a:bodyPr wrap="square" lIns="0" tIns="0" rIns="0" bIns="0" rtlCol="0" anchor="ctr"/>
          <a:lstStyle/>
          <a:p>
            <a:pPr indent="0" marL="0">
              <a:buNone/>
            </a:pPr>
            <a:r>
              <a:rPr lang="en-US" sz="900" i="1" dirty="0">
                <a:solidFill>
                  <a:srgbClr val="AEB6C4"/>
                </a:solidFill>
              </a:rPr>
              <a:t>0.35× replay of the last 2.4 s, killer tracked in red</a:t>
            </a:r>
            <a:endParaRPr lang="en-US" sz="900" dirty="0"/>
          </a:p>
        </p:txBody>
      </p:sp>
      <p:pic>
        <p:nvPicPr>
          <p:cNvPr id="6" name="Evidence frame with burned-in metadata" descr="/private/tmp/claude-501/-Users-moorthy-Downloads-Projects-Vast-builders-challenge/7304a5c7-b157-4453-b023-e17c033f4df9/scratchpad/deck/img/evidence.jpg">    </p:cNvPr>
          <p:cNvPicPr>
            <a:picLocks noChangeAspect="1"/>
          </p:cNvPicPr>
          <p:nvPr/>
        </p:nvPicPr>
        <p:blipFill>
          <a:blip r:embed="rId2"/>
          <a:stretch>
            <a:fillRect/>
          </a:stretch>
        </p:blipFill>
        <p:spPr>
          <a:xfrm>
            <a:off x="4663440" y="1188720"/>
            <a:ext cx="2926080" cy="2185416"/>
          </a:xfrm>
          <a:prstGeom prst="rect">
            <a:avLst/>
          </a:prstGeom>
        </p:spPr>
      </p:pic>
      <p:sp>
        <p:nvSpPr>
          <p:cNvPr id="7" name="Caption"/>
          <p:cNvSpPr txBox="1"/>
          <p:nvPr/>
        </p:nvSpPr>
        <p:spPr>
          <a:xfrm>
            <a:off x="4663440" y="3401568"/>
            <a:ext cx="2926080" cy="274320"/>
          </a:xfrm>
          <a:prstGeom prst="rect">
            <a:avLst/>
          </a:prstGeom>
          <a:noFill/>
          <a:ln/>
        </p:spPr>
        <p:txBody>
          <a:bodyPr wrap="square" lIns="0" tIns="0" rIns="0" bIns="0" rtlCol="0" anchor="ctr"/>
          <a:lstStyle/>
          <a:p>
            <a:pPr indent="0" marL="0">
              <a:buNone/>
            </a:pPr>
            <a:r>
              <a:rPr lang="en-US" sz="900" i="1" dirty="0">
                <a:solidFill>
                  <a:srgbClr val="AEB6C4"/>
                </a:solidFill>
              </a:rPr>
              <a:t>cropped evidence frame, metadata burned in</a:t>
            </a:r>
            <a:endParaRPr lang="en-US" sz="900" dirty="0"/>
          </a:p>
        </p:txBody>
      </p:sp>
      <p:sp>
        <p:nvSpPr>
          <p:cNvPr id="8" name="Code"/>
          <p:cNvSpPr txBox="1"/>
          <p:nvPr/>
        </p:nvSpPr>
        <p:spPr>
          <a:xfrm>
            <a:off x="457200" y="3794760"/>
            <a:ext cx="3931920" cy="411480"/>
          </a:xfrm>
          <a:prstGeom prst="rect">
            <a:avLst/>
          </a:prstGeom>
          <a:solidFill>
            <a:srgbClr val="0B0F17"/>
          </a:solidFill>
          <a:ln w="9525">
            <a:solidFill>
              <a:srgbClr val="202A3D"/>
            </a:solidFill>
          </a:ln>
        </p:spPr>
        <p:txBody>
          <a:bodyPr wrap="square" lIns="1016" tIns="1016" rIns="1016" bIns="1016" rtlCol="0" anchor="ctr"/>
          <a:lstStyle/>
          <a:p>
            <a:pPr indent="0" marL="0">
              <a:buNone/>
            </a:pPr>
            <a:r>
              <a:rPr lang="en-US" sz="1200" dirty="0">
                <a:solidFill>
                  <a:srgbClr val="FFCC33"/>
                </a:solidFill>
                <a:latin typeface="Courier New" pitchFamily="34" charset="0"/>
                <a:ea typeface="Courier New" pitchFamily="34" charset="-122"/>
                <a:cs typeface="Courier New" pitchFamily="34" charset="-120"/>
              </a:rPr>
              <a:t>scene1_p1c2 · seg 1 · t=2.95s · bus 0.7364</a:t>
            </a:r>
            <a:endParaRPr lang="en-US" sz="1200" dirty="0"/>
          </a:p>
        </p:txBody>
      </p:sp>
      <p:sp>
        <p:nvSpPr>
          <p:cNvPr id="9" name="Evidence explainer"/>
          <p:cNvSpPr txBox="1"/>
          <p:nvPr/>
        </p:nvSpPr>
        <p:spPr>
          <a:xfrm>
            <a:off x="4663440" y="3794760"/>
            <a:ext cx="4023360" cy="822960"/>
          </a:xfrm>
          <a:prstGeom prst="rect">
            <a:avLst/>
          </a:prstGeom>
          <a:noFill/>
          <a:ln/>
        </p:spPr>
        <p:txBody>
          <a:bodyPr wrap="square" lIns="0" tIns="0" rIns="0" bIns="0" rtlCol="0" anchor="t"/>
          <a:lstStyle/>
          <a:p>
            <a:pPr indent="0" marL="0">
              <a:buNone/>
            </a:pPr>
            <a:r>
              <a:rPr lang="en-US" sz="1200" b="1" dirty="0">
                <a:solidFill>
                  <a:srgbClr val="FFFFFF"/>
                </a:solidFill>
              </a:rPr>
              <a:t>camera · segment · time · class · confidence</a:t>
            </a:r>
            <a:endParaRPr lang="en-US" sz="1200" dirty="0"/>
          </a:p>
          <a:p>
            <a:pPr indent="0" marL="0">
              <a:buNone/>
            </a:pPr>
            <a:r>
              <a:rPr lang="en-US" sz="1200" dirty="0">
                <a:solidFill>
                  <a:srgbClr val="AEB6C4"/>
                </a:solidFill>
              </a:rPr>
              <a:t>Everything the agent needs to ask the archive is already on the frame.</a:t>
            </a:r>
            <a:endParaRPr lang="en-US" sz="120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300" kern="0" dirty="0">
                <a:solidFill>
                  <a:srgbClr val="FFCC33"/>
                </a:solidFill>
              </a:rPr>
              <a:t>THE ARCHIVE ALREADY KNEW</a:t>
            </a:r>
            <a:endParaRPr lang="en-US" sz="1000" dirty="0"/>
          </a:p>
        </p:txBody>
      </p:sp>
      <p:sp>
        <p:nvSpPr>
          <p:cNvPr id="3" name="Title"/>
          <p:cNvSpPr txBox="1"/>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FFFFFF"/>
                </a:solidFill>
              </a:rPr>
              <a:t>The stored Cosmos description of that segment</a:t>
            </a:r>
            <a:endParaRPr lang="en-US" sz="2800" dirty="0"/>
          </a:p>
        </p:txBody>
      </p:sp>
      <p:sp>
        <p:nvSpPr>
          <p:cNvPr id="4" name="Card"/>
          <p:cNvSpPr/>
          <p:nvPr/>
        </p:nvSpPr>
        <p:spPr>
          <a:xfrm>
            <a:off x="457200" y="1188720"/>
            <a:ext cx="1463040" cy="731520"/>
          </a:xfrm>
          <a:prstGeom prst="roundRect">
            <a:avLst>
              <a:gd name="adj" fmla="val 10000"/>
            </a:avLst>
          </a:prstGeom>
          <a:solidFill>
            <a:srgbClr val="121826"/>
          </a:solidFill>
          <a:ln w="9525">
            <a:solidFill>
              <a:srgbClr val="202A3D"/>
            </a:solidFill>
            <a:prstDash val="solid"/>
          </a:ln>
        </p:spPr>
      </p:sp>
      <p:sp>
        <p:nvSpPr>
          <p:cNvPr id="5" name="Pipeline step"/>
          <p:cNvSpPr txBox="1"/>
          <p:nvPr/>
        </p:nvSpPr>
        <p:spPr>
          <a:xfrm>
            <a:off x="457200" y="1188720"/>
            <a:ext cx="1463040" cy="731520"/>
          </a:xfrm>
          <a:prstGeom prst="rect">
            <a:avLst/>
          </a:prstGeom>
          <a:noFill/>
          <a:ln/>
        </p:spPr>
        <p:txBody>
          <a:bodyPr wrap="square" lIns="0" tIns="0" rIns="0" bIns="0" rtlCol="0" anchor="ctr"/>
          <a:lstStyle/>
          <a:p>
            <a:pPr algn="ctr" indent="0" marL="0">
              <a:buNone/>
            </a:pPr>
            <a:r>
              <a:rPr lang="en-US" sz="1100" b="1" dirty="0">
                <a:solidFill>
                  <a:srgbClr val="FFFFFF"/>
                </a:solidFill>
              </a:rPr>
              <a:t>Segmenter</a:t>
            </a:r>
            <a:endParaRPr lang="en-US" sz="1100" dirty="0"/>
          </a:p>
        </p:txBody>
      </p:sp>
      <p:sp>
        <p:nvSpPr>
          <p:cNvPr id="6" name="Arrow"/>
          <p:cNvSpPr txBox="1"/>
          <p:nvPr/>
        </p:nvSpPr>
        <p:spPr>
          <a:xfrm>
            <a:off x="1920240" y="1188720"/>
            <a:ext cx="228600" cy="731520"/>
          </a:xfrm>
          <a:prstGeom prst="rect">
            <a:avLst/>
          </a:prstGeom>
          <a:noFill/>
          <a:ln/>
        </p:spPr>
        <p:txBody>
          <a:bodyPr wrap="square" lIns="0" tIns="0" rIns="0" bIns="0" rtlCol="0" anchor="ctr"/>
          <a:lstStyle/>
          <a:p>
            <a:pPr algn="ctr" indent="0" marL="0">
              <a:buNone/>
            </a:pPr>
            <a:r>
              <a:rPr lang="en-US" sz="1800" dirty="0">
                <a:solidFill>
                  <a:srgbClr val="FFCC33"/>
                </a:solidFill>
              </a:rPr>
              <a:t>›</a:t>
            </a:r>
            <a:endParaRPr lang="en-US" sz="1800" dirty="0"/>
          </a:p>
        </p:txBody>
      </p:sp>
      <p:sp>
        <p:nvSpPr>
          <p:cNvPr id="7" name="Card"/>
          <p:cNvSpPr/>
          <p:nvPr/>
        </p:nvSpPr>
        <p:spPr>
          <a:xfrm>
            <a:off x="2148840" y="1188720"/>
            <a:ext cx="1463040" cy="731520"/>
          </a:xfrm>
          <a:prstGeom prst="roundRect">
            <a:avLst>
              <a:gd name="adj" fmla="val 10000"/>
            </a:avLst>
          </a:prstGeom>
          <a:solidFill>
            <a:srgbClr val="121826"/>
          </a:solidFill>
          <a:ln w="9525">
            <a:solidFill>
              <a:srgbClr val="202A3D"/>
            </a:solidFill>
            <a:prstDash val="solid"/>
          </a:ln>
        </p:spPr>
      </p:sp>
      <p:sp>
        <p:nvSpPr>
          <p:cNvPr id="8" name="Pipeline step"/>
          <p:cNvSpPr txBox="1"/>
          <p:nvPr/>
        </p:nvSpPr>
        <p:spPr>
          <a:xfrm>
            <a:off x="2148840" y="1188720"/>
            <a:ext cx="1463040" cy="731520"/>
          </a:xfrm>
          <a:prstGeom prst="rect">
            <a:avLst/>
          </a:prstGeom>
          <a:noFill/>
          <a:ln/>
        </p:spPr>
        <p:txBody>
          <a:bodyPr wrap="square" lIns="0" tIns="0" rIns="0" bIns="0" rtlCol="0" anchor="ctr"/>
          <a:lstStyle/>
          <a:p>
            <a:pPr algn="ctr" indent="0" marL="0">
              <a:buNone/>
            </a:pPr>
            <a:r>
              <a:rPr lang="en-US" sz="1100" b="1" dirty="0">
                <a:solidFill>
                  <a:srgbClr val="FFFFFF"/>
                </a:solidFill>
              </a:rPr>
              <a:t>Detector</a:t>
            </a:r>
            <a:endParaRPr lang="en-US" sz="1100" dirty="0"/>
          </a:p>
          <a:p>
            <a:pPr algn="ctr" indent="0" marL="0">
              <a:buNone/>
            </a:pPr>
            <a:r>
              <a:rPr lang="en-US" sz="1100" b="1" dirty="0">
                <a:solidFill>
                  <a:srgbClr val="FFFFFF"/>
                </a:solidFill>
              </a:rPr>
              <a:t>YOLO11s</a:t>
            </a:r>
            <a:endParaRPr lang="en-US" sz="1100" dirty="0"/>
          </a:p>
        </p:txBody>
      </p:sp>
      <p:sp>
        <p:nvSpPr>
          <p:cNvPr id="9" name="Arrow"/>
          <p:cNvSpPr txBox="1"/>
          <p:nvPr/>
        </p:nvSpPr>
        <p:spPr>
          <a:xfrm>
            <a:off x="3611880" y="1188720"/>
            <a:ext cx="228600" cy="731520"/>
          </a:xfrm>
          <a:prstGeom prst="rect">
            <a:avLst/>
          </a:prstGeom>
          <a:noFill/>
          <a:ln/>
        </p:spPr>
        <p:txBody>
          <a:bodyPr wrap="square" lIns="0" tIns="0" rIns="0" bIns="0" rtlCol="0" anchor="ctr"/>
          <a:lstStyle/>
          <a:p>
            <a:pPr algn="ctr" indent="0" marL="0">
              <a:buNone/>
            </a:pPr>
            <a:r>
              <a:rPr lang="en-US" sz="1800" dirty="0">
                <a:solidFill>
                  <a:srgbClr val="FFCC33"/>
                </a:solidFill>
              </a:rPr>
              <a:t>›</a:t>
            </a:r>
            <a:endParaRPr lang="en-US" sz="1800" dirty="0"/>
          </a:p>
        </p:txBody>
      </p:sp>
      <p:sp>
        <p:nvSpPr>
          <p:cNvPr id="10" name="Card"/>
          <p:cNvSpPr/>
          <p:nvPr/>
        </p:nvSpPr>
        <p:spPr>
          <a:xfrm>
            <a:off x="3840480" y="1188720"/>
            <a:ext cx="1463040" cy="731520"/>
          </a:xfrm>
          <a:prstGeom prst="roundRect">
            <a:avLst>
              <a:gd name="adj" fmla="val 10000"/>
            </a:avLst>
          </a:prstGeom>
          <a:solidFill>
            <a:srgbClr val="121826"/>
          </a:solidFill>
          <a:ln w="9525">
            <a:solidFill>
              <a:srgbClr val="202A3D"/>
            </a:solidFill>
            <a:prstDash val="solid"/>
          </a:ln>
        </p:spPr>
      </p:sp>
      <p:sp>
        <p:nvSpPr>
          <p:cNvPr id="11" name="Pipeline step"/>
          <p:cNvSpPr txBox="1"/>
          <p:nvPr/>
        </p:nvSpPr>
        <p:spPr>
          <a:xfrm>
            <a:off x="3840480" y="1188720"/>
            <a:ext cx="1463040" cy="731520"/>
          </a:xfrm>
          <a:prstGeom prst="rect">
            <a:avLst/>
          </a:prstGeom>
          <a:noFill/>
          <a:ln/>
        </p:spPr>
        <p:txBody>
          <a:bodyPr wrap="square" lIns="0" tIns="0" rIns="0" bIns="0" rtlCol="0" anchor="ctr"/>
          <a:lstStyle/>
          <a:p>
            <a:pPr algn="ctr" indent="0" marL="0">
              <a:buNone/>
            </a:pPr>
            <a:r>
              <a:rPr lang="en-US" sz="1100" b="1" dirty="0">
                <a:solidFill>
                  <a:srgbClr val="FFFFFF"/>
                </a:solidFill>
              </a:rPr>
              <a:t>Reasoner</a:t>
            </a:r>
            <a:endParaRPr lang="en-US" sz="1100" dirty="0"/>
          </a:p>
          <a:p>
            <a:pPr algn="ctr" indent="0" marL="0">
              <a:buNone/>
            </a:pPr>
            <a:r>
              <a:rPr lang="en-US" sz="1100" b="1" dirty="0">
                <a:solidFill>
                  <a:srgbClr val="FFFFFF"/>
                </a:solidFill>
              </a:rPr>
              <a:t>Cosmos3-Reason</a:t>
            </a:r>
            <a:endParaRPr lang="en-US" sz="1100" dirty="0"/>
          </a:p>
        </p:txBody>
      </p:sp>
      <p:sp>
        <p:nvSpPr>
          <p:cNvPr id="12" name="Arrow"/>
          <p:cNvSpPr txBox="1"/>
          <p:nvPr/>
        </p:nvSpPr>
        <p:spPr>
          <a:xfrm>
            <a:off x="5303520" y="1188720"/>
            <a:ext cx="228600" cy="731520"/>
          </a:xfrm>
          <a:prstGeom prst="rect">
            <a:avLst/>
          </a:prstGeom>
          <a:noFill/>
          <a:ln/>
        </p:spPr>
        <p:txBody>
          <a:bodyPr wrap="square" lIns="0" tIns="0" rIns="0" bIns="0" rtlCol="0" anchor="ctr"/>
          <a:lstStyle/>
          <a:p>
            <a:pPr algn="ctr" indent="0" marL="0">
              <a:buNone/>
            </a:pPr>
            <a:r>
              <a:rPr lang="en-US" sz="1800" dirty="0">
                <a:solidFill>
                  <a:srgbClr val="FFCC33"/>
                </a:solidFill>
              </a:rPr>
              <a:t>›</a:t>
            </a:r>
            <a:endParaRPr lang="en-US" sz="1800" dirty="0"/>
          </a:p>
        </p:txBody>
      </p:sp>
      <p:sp>
        <p:nvSpPr>
          <p:cNvPr id="13" name="Card"/>
          <p:cNvSpPr/>
          <p:nvPr/>
        </p:nvSpPr>
        <p:spPr>
          <a:xfrm>
            <a:off x="5532120" y="1188720"/>
            <a:ext cx="1463040" cy="731520"/>
          </a:xfrm>
          <a:prstGeom prst="roundRect">
            <a:avLst>
              <a:gd name="adj" fmla="val 10000"/>
            </a:avLst>
          </a:prstGeom>
          <a:solidFill>
            <a:srgbClr val="121826"/>
          </a:solidFill>
          <a:ln w="9525">
            <a:solidFill>
              <a:srgbClr val="202A3D"/>
            </a:solidFill>
            <a:prstDash val="solid"/>
          </a:ln>
        </p:spPr>
      </p:sp>
      <p:sp>
        <p:nvSpPr>
          <p:cNvPr id="14" name="Pipeline step"/>
          <p:cNvSpPr txBox="1"/>
          <p:nvPr/>
        </p:nvSpPr>
        <p:spPr>
          <a:xfrm>
            <a:off x="5532120" y="1188720"/>
            <a:ext cx="1463040" cy="731520"/>
          </a:xfrm>
          <a:prstGeom prst="rect">
            <a:avLst/>
          </a:prstGeom>
          <a:noFill/>
          <a:ln/>
        </p:spPr>
        <p:txBody>
          <a:bodyPr wrap="square" lIns="0" tIns="0" rIns="0" bIns="0" rtlCol="0" anchor="ctr"/>
          <a:lstStyle/>
          <a:p>
            <a:pPr algn="ctr" indent="0" marL="0">
              <a:buNone/>
            </a:pPr>
            <a:r>
              <a:rPr lang="en-US" sz="1100" b="1" dirty="0">
                <a:solidFill>
                  <a:srgbClr val="FFFFFF"/>
                </a:solidFill>
              </a:rPr>
              <a:t>Embedder</a:t>
            </a:r>
            <a:endParaRPr lang="en-US" sz="1100" dirty="0"/>
          </a:p>
          <a:p>
            <a:pPr algn="ctr" indent="0" marL="0">
              <a:buNone/>
            </a:pPr>
            <a:r>
              <a:rPr lang="en-US" sz="1100" b="1" dirty="0">
                <a:solidFill>
                  <a:srgbClr val="FFFFFF"/>
                </a:solidFill>
              </a:rPr>
              <a:t>Cosmos Embed1</a:t>
            </a:r>
            <a:endParaRPr lang="en-US" sz="1100" dirty="0"/>
          </a:p>
        </p:txBody>
      </p:sp>
      <p:sp>
        <p:nvSpPr>
          <p:cNvPr id="15" name="Arrow"/>
          <p:cNvSpPr txBox="1"/>
          <p:nvPr/>
        </p:nvSpPr>
        <p:spPr>
          <a:xfrm>
            <a:off x="6995160" y="1188720"/>
            <a:ext cx="228600" cy="731520"/>
          </a:xfrm>
          <a:prstGeom prst="rect">
            <a:avLst/>
          </a:prstGeom>
          <a:noFill/>
          <a:ln/>
        </p:spPr>
        <p:txBody>
          <a:bodyPr wrap="square" lIns="0" tIns="0" rIns="0" bIns="0" rtlCol="0" anchor="ctr"/>
          <a:lstStyle/>
          <a:p>
            <a:pPr algn="ctr" indent="0" marL="0">
              <a:buNone/>
            </a:pPr>
            <a:r>
              <a:rPr lang="en-US" sz="1800" dirty="0">
                <a:solidFill>
                  <a:srgbClr val="FFCC33"/>
                </a:solidFill>
              </a:rPr>
              <a:t>›</a:t>
            </a:r>
            <a:endParaRPr lang="en-US" sz="1800" dirty="0"/>
          </a:p>
        </p:txBody>
      </p:sp>
      <p:sp>
        <p:nvSpPr>
          <p:cNvPr id="16" name="Card"/>
          <p:cNvSpPr/>
          <p:nvPr/>
        </p:nvSpPr>
        <p:spPr>
          <a:xfrm>
            <a:off x="7223760" y="1188720"/>
            <a:ext cx="1463040" cy="731520"/>
          </a:xfrm>
          <a:prstGeom prst="roundRect">
            <a:avLst>
              <a:gd name="adj" fmla="val 10000"/>
            </a:avLst>
          </a:prstGeom>
          <a:solidFill>
            <a:srgbClr val="1F2A1B"/>
          </a:solidFill>
          <a:ln w="9525">
            <a:solidFill>
              <a:srgbClr val="202A3D"/>
            </a:solidFill>
            <a:prstDash val="solid"/>
          </a:ln>
        </p:spPr>
      </p:sp>
      <p:sp>
        <p:nvSpPr>
          <p:cNvPr id="17" name="Pipeline step"/>
          <p:cNvSpPr txBox="1"/>
          <p:nvPr/>
        </p:nvSpPr>
        <p:spPr>
          <a:xfrm>
            <a:off x="7223760" y="1188720"/>
            <a:ext cx="1463040" cy="731520"/>
          </a:xfrm>
          <a:prstGeom prst="rect">
            <a:avLst/>
          </a:prstGeom>
          <a:noFill/>
          <a:ln/>
        </p:spPr>
        <p:txBody>
          <a:bodyPr wrap="square" lIns="0" tIns="0" rIns="0" bIns="0" rtlCol="0" anchor="ctr"/>
          <a:lstStyle/>
          <a:p>
            <a:pPr algn="ctr" indent="0" marL="0">
              <a:buNone/>
            </a:pPr>
            <a:r>
              <a:rPr lang="en-US" sz="1100" b="1" dirty="0">
                <a:solidFill>
                  <a:srgbClr val="4CD38A"/>
                </a:solidFill>
              </a:rPr>
              <a:t>VastDB</a:t>
            </a:r>
            <a:endParaRPr lang="en-US" sz="1100" dirty="0"/>
          </a:p>
          <a:p>
            <a:pPr algn="ctr" indent="0" marL="0">
              <a:buNone/>
            </a:pPr>
            <a:r>
              <a:rPr lang="en-US" sz="1100" b="1" dirty="0">
                <a:solidFill>
                  <a:srgbClr val="4CD38A"/>
                </a:solidFill>
              </a:rPr>
              <a:t>vss-collection</a:t>
            </a:r>
            <a:endParaRPr lang="en-US" sz="1100" dirty="0"/>
          </a:p>
        </p:txBody>
      </p:sp>
      <p:sp>
        <p:nvSpPr>
          <p:cNvPr id="18" name="Caption"/>
          <p:cNvSpPr txBox="1"/>
          <p:nvPr/>
        </p:nvSpPr>
        <p:spPr>
          <a:xfrm>
            <a:off x="457200" y="1965960"/>
            <a:ext cx="8229600" cy="274320"/>
          </a:xfrm>
          <a:prstGeom prst="rect">
            <a:avLst/>
          </a:prstGeom>
          <a:noFill/>
          <a:ln/>
        </p:spPr>
        <p:txBody>
          <a:bodyPr wrap="square" lIns="0" tIns="0" rIns="0" bIns="0" rtlCol="0" anchor="ctr"/>
          <a:lstStyle/>
          <a:p>
            <a:pPr indent="0" marL="0">
              <a:buNone/>
            </a:pPr>
            <a:r>
              <a:rPr lang="en-US" sz="900" i="1" dirty="0">
                <a:solidFill>
                  <a:srgbClr val="AEB6C4"/>
                </a:solidFill>
              </a:rPr>
              <a:t>DataEngine serverless pipeline (pre-built by the organisers) — Hop 24 reads what it wrote: caption, 256-dim text + visual vectors, boxes, camera_id</a:t>
            </a:r>
            <a:endParaRPr lang="en-US" sz="900" dirty="0"/>
          </a:p>
        </p:txBody>
      </p:sp>
      <p:sp>
        <p:nvSpPr>
          <p:cNvPr id="19" name="Card"/>
          <p:cNvSpPr/>
          <p:nvPr/>
        </p:nvSpPr>
        <p:spPr>
          <a:xfrm>
            <a:off x="457200" y="2377440"/>
            <a:ext cx="1920240" cy="1325880"/>
          </a:xfrm>
          <a:prstGeom prst="roundRect">
            <a:avLst>
              <a:gd name="adj" fmla="val 5517"/>
            </a:avLst>
          </a:prstGeom>
          <a:solidFill>
            <a:srgbClr val="121826"/>
          </a:solidFill>
          <a:ln w="9525">
            <a:solidFill>
              <a:srgbClr val="202A3D"/>
            </a:solidFill>
            <a:prstDash val="solid"/>
          </a:ln>
        </p:spPr>
      </p:sp>
      <p:sp>
        <p:nvSpPr>
          <p:cNvPr id="20" name="Stat"/>
          <p:cNvSpPr txBox="1"/>
          <p:nvPr/>
        </p:nvSpPr>
        <p:spPr>
          <a:xfrm>
            <a:off x="594360" y="2468880"/>
            <a:ext cx="1645920" cy="731520"/>
          </a:xfrm>
          <a:prstGeom prst="rect">
            <a:avLst/>
          </a:prstGeom>
          <a:noFill/>
          <a:ln/>
        </p:spPr>
        <p:txBody>
          <a:bodyPr wrap="square" lIns="0" tIns="0" rIns="0" bIns="0" rtlCol="0" anchor="ctr"/>
          <a:lstStyle/>
          <a:p>
            <a:pPr indent="0" marL="0">
              <a:buNone/>
            </a:pPr>
            <a:r>
              <a:rPr lang="en-US" sz="2800" b="1" dirty="0">
                <a:solidFill>
                  <a:srgbClr val="FFCC33"/>
                </a:solidFill>
              </a:rPr>
              <a:t>141 / 180</a:t>
            </a:r>
            <a:endParaRPr lang="en-US" sz="2800" dirty="0"/>
          </a:p>
        </p:txBody>
      </p:sp>
      <p:sp>
        <p:nvSpPr>
          <p:cNvPr id="21" name="Stat label"/>
          <p:cNvSpPr txBox="1"/>
          <p:nvPr/>
        </p:nvSpPr>
        <p:spPr>
          <a:xfrm>
            <a:off x="594360" y="3182112"/>
            <a:ext cx="1645920" cy="457200"/>
          </a:xfrm>
          <a:prstGeom prst="rect">
            <a:avLst/>
          </a:prstGeom>
          <a:noFill/>
          <a:ln/>
        </p:spPr>
        <p:txBody>
          <a:bodyPr wrap="square" lIns="0" tIns="0" rIns="0" bIns="0" rtlCol="0" anchor="t"/>
          <a:lstStyle/>
          <a:p>
            <a:pPr indent="0" marL="0">
              <a:buNone/>
            </a:pPr>
            <a:r>
              <a:rPr lang="en-US" sz="1100" dirty="0">
                <a:solidFill>
                  <a:srgbClr val="AEB6C4"/>
                </a:solidFill>
              </a:rPr>
              <a:t>highway captions mention a vehicle colour</a:t>
            </a:r>
            <a:endParaRPr lang="en-US" sz="1100" dirty="0"/>
          </a:p>
        </p:txBody>
      </p:sp>
      <p:sp>
        <p:nvSpPr>
          <p:cNvPr id="22" name="Card"/>
          <p:cNvSpPr/>
          <p:nvPr/>
        </p:nvSpPr>
        <p:spPr>
          <a:xfrm>
            <a:off x="2560320" y="2377440"/>
            <a:ext cx="1920240" cy="1325880"/>
          </a:xfrm>
          <a:prstGeom prst="roundRect">
            <a:avLst>
              <a:gd name="adj" fmla="val 5517"/>
            </a:avLst>
          </a:prstGeom>
          <a:solidFill>
            <a:srgbClr val="121826"/>
          </a:solidFill>
          <a:ln w="9525">
            <a:solidFill>
              <a:srgbClr val="202A3D"/>
            </a:solidFill>
            <a:prstDash val="solid"/>
          </a:ln>
        </p:spPr>
      </p:sp>
      <p:sp>
        <p:nvSpPr>
          <p:cNvPr id="23" name="Stat"/>
          <p:cNvSpPr txBox="1"/>
          <p:nvPr/>
        </p:nvSpPr>
        <p:spPr>
          <a:xfrm>
            <a:off x="2697480" y="2468880"/>
            <a:ext cx="1645920" cy="731520"/>
          </a:xfrm>
          <a:prstGeom prst="rect">
            <a:avLst/>
          </a:prstGeom>
          <a:noFill/>
          <a:ln/>
        </p:spPr>
        <p:txBody>
          <a:bodyPr wrap="square" lIns="0" tIns="0" rIns="0" bIns="0" rtlCol="0" anchor="ctr"/>
          <a:lstStyle/>
          <a:p>
            <a:pPr indent="0" marL="0">
              <a:buNone/>
            </a:pPr>
            <a:r>
              <a:rPr lang="en-US" sz="2800" b="1" dirty="0">
                <a:solidFill>
                  <a:srgbClr val="AEB6C4"/>
                </a:solidFill>
              </a:rPr>
              <a:t>48 / 180</a:t>
            </a:r>
            <a:endParaRPr lang="en-US" sz="2800" dirty="0"/>
          </a:p>
        </p:txBody>
      </p:sp>
      <p:sp>
        <p:nvSpPr>
          <p:cNvPr id="24" name="Stat label"/>
          <p:cNvSpPr txBox="1"/>
          <p:nvPr/>
        </p:nvSpPr>
        <p:spPr>
          <a:xfrm>
            <a:off x="2697480" y="3182112"/>
            <a:ext cx="1645920" cy="457200"/>
          </a:xfrm>
          <a:prstGeom prst="rect">
            <a:avLst/>
          </a:prstGeom>
          <a:noFill/>
          <a:ln/>
        </p:spPr>
        <p:txBody>
          <a:bodyPr wrap="square" lIns="0" tIns="0" rIns="0" bIns="0" rtlCol="0" anchor="t"/>
          <a:lstStyle/>
          <a:p>
            <a:pPr indent="0" marL="0">
              <a:buNone/>
            </a:pPr>
            <a:r>
              <a:rPr lang="en-US" sz="1100" dirty="0">
                <a:solidFill>
                  <a:srgbClr val="AEB6C4"/>
                </a:solidFill>
              </a:rPr>
              <a:t>say which lane the vehicle is in</a:t>
            </a:r>
            <a:endParaRPr lang="en-US" sz="1100" dirty="0"/>
          </a:p>
        </p:txBody>
      </p:sp>
      <p:sp>
        <p:nvSpPr>
          <p:cNvPr id="25" name="Card"/>
          <p:cNvSpPr/>
          <p:nvPr/>
        </p:nvSpPr>
        <p:spPr>
          <a:xfrm>
            <a:off x="4663440" y="2377440"/>
            <a:ext cx="1920240" cy="1325880"/>
          </a:xfrm>
          <a:prstGeom prst="roundRect">
            <a:avLst>
              <a:gd name="adj" fmla="val 5517"/>
            </a:avLst>
          </a:prstGeom>
          <a:solidFill>
            <a:srgbClr val="121826"/>
          </a:solidFill>
          <a:ln w="9525">
            <a:solidFill>
              <a:srgbClr val="202A3D"/>
            </a:solidFill>
            <a:prstDash val="solid"/>
          </a:ln>
        </p:spPr>
      </p:sp>
      <p:sp>
        <p:nvSpPr>
          <p:cNvPr id="26" name="Stat"/>
          <p:cNvSpPr txBox="1"/>
          <p:nvPr/>
        </p:nvSpPr>
        <p:spPr>
          <a:xfrm>
            <a:off x="4800600" y="2468880"/>
            <a:ext cx="1645920" cy="731520"/>
          </a:xfrm>
          <a:prstGeom prst="rect">
            <a:avLst/>
          </a:prstGeom>
          <a:noFill/>
          <a:ln/>
        </p:spPr>
        <p:txBody>
          <a:bodyPr wrap="square" lIns="0" tIns="0" rIns="0" bIns="0" rtlCol="0" anchor="ctr"/>
          <a:lstStyle/>
          <a:p>
            <a:pPr indent="0" marL="0">
              <a:buNone/>
            </a:pPr>
            <a:r>
              <a:rPr lang="en-US" sz="2800" b="1" dirty="0">
                <a:solidFill>
                  <a:srgbClr val="FF5A5F"/>
                </a:solidFill>
              </a:rPr>
              <a:t>0 / 180</a:t>
            </a:r>
            <a:endParaRPr lang="en-US" sz="2800" dirty="0"/>
          </a:p>
        </p:txBody>
      </p:sp>
      <p:sp>
        <p:nvSpPr>
          <p:cNvPr id="27" name="Stat label"/>
          <p:cNvSpPr txBox="1"/>
          <p:nvPr/>
        </p:nvSpPr>
        <p:spPr>
          <a:xfrm>
            <a:off x="4800600" y="3182112"/>
            <a:ext cx="1645920" cy="457200"/>
          </a:xfrm>
          <a:prstGeom prst="rect">
            <a:avLst/>
          </a:prstGeom>
          <a:noFill/>
          <a:ln/>
        </p:spPr>
        <p:txBody>
          <a:bodyPr wrap="square" lIns="0" tIns="0" rIns="0" bIns="0" rtlCol="0" anchor="t"/>
          <a:lstStyle/>
          <a:p>
            <a:pPr indent="0" marL="0">
              <a:buNone/>
            </a:pPr>
            <a:r>
              <a:rPr lang="en-US" sz="1100" dirty="0">
                <a:solidFill>
                  <a:srgbClr val="AEB6C4"/>
                </a:solidFill>
              </a:rPr>
              <a:t>give a lane number</a:t>
            </a:r>
            <a:endParaRPr lang="en-US" sz="1100" dirty="0"/>
          </a:p>
        </p:txBody>
      </p:sp>
      <p:sp>
        <p:nvSpPr>
          <p:cNvPr id="28" name="Query build"/>
          <p:cNvSpPr txBox="1"/>
          <p:nvPr/>
        </p:nvSpPr>
        <p:spPr>
          <a:xfrm>
            <a:off x="6812280" y="2377440"/>
            <a:ext cx="1920240" cy="1325880"/>
          </a:xfrm>
          <a:prstGeom prst="rect">
            <a:avLst/>
          </a:prstGeom>
          <a:noFill/>
          <a:ln/>
        </p:spPr>
        <p:txBody>
          <a:bodyPr wrap="square" lIns="0" tIns="0" rIns="0" bIns="0" rtlCol="0" anchor="t"/>
          <a:lstStyle/>
          <a:p>
            <a:pPr indent="0" marL="0">
              <a:buNone/>
            </a:pPr>
            <a:r>
              <a:rPr lang="en-US" sz="1000" b="1" dirty="0">
                <a:solidFill>
                  <a:srgbClr val="FFCC33"/>
                </a:solidFill>
                <a:latin typeface="Courier New" pitchFamily="34" charset="0"/>
                <a:ea typeface="Courier New" pitchFamily="34" charset="-122"/>
                <a:cs typeface="Courier New" pitchFamily="34" charset="-120"/>
              </a:rPr>
              <a:t>GET /caption → reasoning_content</a:t>
            </a:r>
            <a:endParaRPr lang="en-US" sz="1000" dirty="0"/>
          </a:p>
          <a:p>
            <a:pPr indent="0" marL="0">
              <a:buNone/>
            </a:pPr>
            <a:r>
              <a:rPr lang="en-US" sz="1000" dirty="0">
                <a:solidFill>
                  <a:srgbClr val="FFFFFF"/>
                </a:solidFill>
              </a:rPr>
              <a:t>The agent takes the colour word nearest the vehicle noun in the stored caption and builds the query: e.g. “white semi truck”.</a:t>
            </a:r>
            <a:endParaRPr lang="en-US" sz="1000" dirty="0"/>
          </a:p>
        </p:txBody>
      </p:sp>
      <p:sp>
        <p:nvSpPr>
          <p:cNvPr id="29" name="Takeaway"/>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600" b="1" dirty="0">
                <a:solidFill>
                  <a:srgbClr val="FFFFFF"/>
                </a:solidFill>
              </a:rPr>
              <a:t>Colour is in the archive. Lane numbers are not — that gap is what slide 8 closes.</a:t>
            </a:r>
            <a:endParaRPr lang="en-US" sz="160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300" kern="0" dirty="0">
                <a:solidFill>
                  <a:srgbClr val="FFCC33"/>
                </a:solidFill>
              </a:rPr>
              <a:t>MANHUNT</a:t>
            </a:r>
            <a:endParaRPr lang="en-US" sz="1000" dirty="0"/>
          </a:p>
        </p:txBody>
      </p:sp>
      <p:sp>
        <p:nvSpPr>
          <p:cNvPr id="3" name="Title"/>
          <p:cNvSpPr txBox="1"/>
          <p:nvPr/>
        </p:nvSpPr>
        <p:spPr>
          <a:xfrm>
            <a:off x="457200" y="365760"/>
            <a:ext cx="8412480" cy="548640"/>
          </a:xfrm>
          <a:prstGeom prst="rect">
            <a:avLst/>
          </a:prstGeom>
          <a:noFill/>
          <a:ln/>
        </p:spPr>
        <p:txBody>
          <a:bodyPr wrap="square" lIns="0" tIns="0" rIns="0" bIns="0" rtlCol="0" anchor="ctr"/>
          <a:lstStyle/>
          <a:p>
            <a:pPr indent="0" marL="0">
              <a:buNone/>
            </a:pPr>
            <a:r>
              <a:rPr lang="en-US" sz="2800" b="1" dirty="0">
                <a:solidFill>
                  <a:srgbClr val="FFFFFF"/>
                </a:solidFill>
              </a:rPr>
              <a:t>One hybrid query across every camera</a:t>
            </a:r>
            <a:endParaRPr lang="en-US" sz="2800" dirty="0"/>
          </a:p>
        </p:txBody>
      </p:sp>
      <p:sp>
        <p:nvSpPr>
          <p:cNvPr id="4" name="Body"/>
          <p:cNvSpPr txBox="1"/>
          <p:nvPr/>
        </p:nvSpPr>
        <p:spPr>
          <a:xfrm>
            <a:off x="457200" y="1188720"/>
            <a:ext cx="4572000"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FFFFFF"/>
                </a:solidFill>
              </a:rPr>
              <a:t>POST /investigate → one /search call: caption vectors + visual vectors (cosine distance), text weight 0.60, filter camera_id = i24_cam-1.</a:t>
            </a:r>
            <a:endParaRPr lang="en-US" sz="1300" dirty="0"/>
          </a:p>
          <a:p>
            <a:pPr marL="177800" indent="-177800">
              <a:spcAft>
                <a:spcPts val="800"/>
              </a:spcAft>
              <a:buSzPct val="100000"/>
              <a:buChar char="•"/>
            </a:pPr>
            <a:r>
              <a:rPr lang="en-US" sz="1300" dirty="0">
                <a:solidFill>
                  <a:srgbClr val="FFFFFF"/>
                </a:solidFill>
              </a:rPr>
              <a:t>Results grouped per camera in a corridor view: p1c1 | p1c2 | p1c3. Strongest sighting on another camera is highlighted; click any to watch that segment.</a:t>
            </a:r>
            <a:endParaRPr lang="en-US" sz="1300" dirty="0"/>
          </a:p>
          <a:p>
            <a:pPr marL="177800" indent="-177800">
              <a:spcAft>
                <a:spcPts val="800"/>
              </a:spcAft>
              <a:buSzPct val="100000"/>
              <a:buChar char="•"/>
            </a:pPr>
            <a:r>
              <a:rPr lang="en-US" sz="1300" dirty="0">
                <a:solidFill>
                  <a:srgbClr val="FFFFFF"/>
                </a:solidFill>
              </a:rPr>
              <a:t>Test: “white semi truck” on i24_cam-1 → 10 hits, every one contains “white”.</a:t>
            </a:r>
            <a:endParaRPr lang="en-US" sz="1300" dirty="0"/>
          </a:p>
        </p:txBody>
      </p:sp>
      <p:sp>
        <p:nvSpPr>
          <p:cNvPr id="5" name="Code"/>
          <p:cNvSpPr txBox="1"/>
          <p:nvPr/>
        </p:nvSpPr>
        <p:spPr>
          <a:xfrm>
            <a:off x="457200" y="3611880"/>
            <a:ext cx="4572000" cy="1005840"/>
          </a:xfrm>
          <a:prstGeom prst="rect">
            <a:avLst/>
          </a:prstGeom>
          <a:solidFill>
            <a:srgbClr val="0B0F17"/>
          </a:solidFill>
          <a:ln w="9525">
            <a:solidFill>
              <a:srgbClr val="202A3D"/>
            </a:solidFill>
          </a:ln>
        </p:spPr>
        <p:txBody>
          <a:bodyPr wrap="square" lIns="1016" tIns="1016" rIns="1016" bIns="1016" rtlCol="0" anchor="ctr"/>
          <a:lstStyle/>
          <a:p>
            <a:pPr indent="0" marL="0">
              <a:buNone/>
            </a:pPr>
            <a:r>
              <a:rPr lang="en-US" sz="900" dirty="0">
                <a:solidFill>
                  <a:srgbClr val="FFCC33"/>
                </a:solidFill>
                <a:latin typeface="Courier New" pitchFamily="34" charset="0"/>
                <a:ea typeface="Courier New" pitchFamily="34" charset="-122"/>
                <a:cs typeface="Courier New" pitchFamily="34" charset="-120"/>
              </a:rPr>
              <a:t>SELECT ... FROM "team-x-vss-db"."vss-schema"."vss-collection"</a:t>
            </a:r>
            <a:endParaRPr lang="en-US" sz="900" dirty="0"/>
          </a:p>
          <a:p>
            <a:pPr indent="0" marL="0">
              <a:buNone/>
            </a:pPr>
            <a:r>
              <a:rPr lang="en-US" sz="900" dirty="0">
                <a:solidFill>
                  <a:srgbClr val="FFCC33"/>
                </a:solidFill>
                <a:latin typeface="Courier New" pitchFamily="34" charset="0"/>
                <a:ea typeface="Courier New" pitchFamily="34" charset="-122"/>
                <a:cs typeface="Courier New" pitchFamily="34" charset="-120"/>
              </a:rPr>
              <a:t>WHERE camera_id = 'i24_cam-1' ORDER BY distance LIMIT 100</a:t>
            </a:r>
            <a:endParaRPr lang="en-US" sz="900" dirty="0"/>
          </a:p>
          <a:p>
            <a:pPr indent="0" marL="0">
              <a:buNone/>
            </a:pPr>
            <a:r>
              <a:rPr lang="en-US" sz="900" dirty="0">
                <a:solidFill>
                  <a:srgbClr val="FFCC33"/>
                </a:solidFill>
                <a:latin typeface="Courier New" pitchFamily="34" charset="0"/>
                <a:ea typeface="Courier New" pitchFamily="34" charset="-122"/>
                <a:cs typeface="Courier New" pitchFamily="34" charset="-120"/>
              </a:rPr>
              <a:t>-- two vector branches + ACL filter; SQL returned by the backend and shown on screen</a:t>
            </a:r>
            <a:endParaRPr lang="en-US" sz="900" dirty="0"/>
          </a:p>
        </p:txBody>
      </p:sp>
      <p:pic>
        <p:nvPicPr>
          <p:cNvPr id="6" name="Strongest sighting toast" descr="/private/tmp/claude-501/-Users-moorthy-Downloads-Projects-Vast-builders-challenge/7304a5c7-b157-4453-b023-e17c033f4df9/scratchpad/deck/img/manhunt_toast.jpg">    </p:cNvPr>
          <p:cNvPicPr>
            <a:picLocks noChangeAspect="1"/>
          </p:cNvPicPr>
          <p:nvPr/>
        </p:nvPicPr>
        <p:blipFill>
          <a:blip r:embed="rId1"/>
          <a:stretch>
            <a:fillRect/>
          </a:stretch>
        </p:blipFill>
        <p:spPr>
          <a:xfrm>
            <a:off x="5303520" y="1188720"/>
            <a:ext cx="3383280" cy="2295144"/>
          </a:xfrm>
          <a:prstGeom prst="rect">
            <a:avLst/>
          </a:prstGeom>
        </p:spPr>
      </p:pic>
      <p:sp>
        <p:nvSpPr>
          <p:cNvPr id="7" name="Caption"/>
          <p:cNvSpPr txBox="1"/>
          <p:nvPr/>
        </p:nvSpPr>
        <p:spPr>
          <a:xfrm>
            <a:off x="5303520" y="3520440"/>
            <a:ext cx="3383280" cy="274320"/>
          </a:xfrm>
          <a:prstGeom prst="rect">
            <a:avLst/>
          </a:prstGeom>
          <a:noFill/>
          <a:ln/>
        </p:spPr>
        <p:txBody>
          <a:bodyPr wrap="square" lIns="0" tIns="0" rIns="0" bIns="0" rtlCol="0" anchor="ctr"/>
          <a:lstStyle/>
          <a:p>
            <a:pPr indent="0" marL="0">
              <a:buNone/>
            </a:pPr>
            <a:r>
              <a:rPr lang="en-US" sz="900" i="1" dirty="0">
                <a:solidFill>
                  <a:srgbClr val="AEB6C4"/>
                </a:solidFill>
              </a:rPr>
              <a:t>“strongest sighting on scene1_p1c3 (score 0.41)” — captured in HOP24_MOCK mode (synthetic footage)</a:t>
            </a:r>
            <a:endParaRPr lang="en-US" sz="900" dirty="0"/>
          </a:p>
        </p:txBody>
      </p:sp>
      <p:sp>
        <p:nvSpPr>
          <p:cNvPr id="8" name="Limit"/>
          <p:cNvSpPr txBox="1"/>
          <p:nvPr/>
        </p:nvSpPr>
        <p:spPr>
          <a:xfrm>
            <a:off x="5303520" y="3931920"/>
            <a:ext cx="3383280" cy="685800"/>
          </a:xfrm>
          <a:prstGeom prst="rect">
            <a:avLst/>
          </a:prstGeom>
          <a:noFill/>
          <a:ln/>
        </p:spPr>
        <p:txBody>
          <a:bodyPr wrap="square" lIns="0" tIns="0" rIns="0" bIns="0" rtlCol="0" anchor="t"/>
          <a:lstStyle/>
          <a:p>
            <a:pPr indent="0" marL="0">
              <a:buNone/>
            </a:pPr>
            <a:r>
              <a:rPr lang="en-US" sz="1100" i="1" dirty="0">
                <a:solidFill>
                  <a:srgbClr val="AEB6C4"/>
                </a:solidFill>
              </a:rPr>
              <a:t>Honest: this is description-similar search, not re-identification. Hits are candidate sightings.</a:t>
            </a:r>
            <a:endParaRPr lang="en-US" sz="110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300" kern="0" dirty="0">
                <a:solidFill>
                  <a:srgbClr val="FFCC33"/>
                </a:solidFill>
              </a:rPr>
              <a:t>ACTION</a:t>
            </a:r>
            <a:endParaRPr lang="en-US" sz="1000" dirty="0"/>
          </a:p>
        </p:txBody>
      </p:sp>
      <p:sp>
        <p:nvSpPr>
          <p:cNvPr id="3" name="Title"/>
          <p:cNvSpPr txBox="1"/>
          <p:nvPr/>
        </p:nvSpPr>
        <p:spPr>
          <a:xfrm>
            <a:off x="457200" y="365760"/>
            <a:ext cx="8412480" cy="548640"/>
          </a:xfrm>
          <a:prstGeom prst="rect">
            <a:avLst/>
          </a:prstGeom>
          <a:noFill/>
          <a:ln/>
        </p:spPr>
        <p:txBody>
          <a:bodyPr wrap="square" lIns="0" tIns="0" rIns="0" bIns="0" rtlCol="0" anchor="ctr"/>
          <a:lstStyle/>
          <a:p>
            <a:pPr indent="0" marL="0">
              <a:buNone/>
            </a:pPr>
            <a:r>
              <a:rPr lang="en-US" sz="2800" b="1" dirty="0">
                <a:solidFill>
                  <a:srgbClr val="FFFFFF"/>
                </a:solidFill>
              </a:rPr>
              <a:t>Incident report generated and filed</a:t>
            </a:r>
            <a:endParaRPr lang="en-US" sz="2800" dirty="0"/>
          </a:p>
        </p:txBody>
      </p:sp>
      <p:sp>
        <p:nvSpPr>
          <p:cNvPr id="4" name="Body"/>
          <p:cNvSpPr txBox="1"/>
          <p:nvPr/>
        </p:nvSpPr>
        <p:spPr>
          <a:xfrm>
            <a:off x="457200" y="1188720"/>
            <a:ext cx="4206240" cy="27432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FFFFFF"/>
                </a:solidFill>
              </a:rPr>
              <a:t>Event, camera and time, YOLO detection with bbox, the archive description, the query issued, sightings on other cameras, last seen, recommended action.</a:t>
            </a:r>
            <a:endParaRPr lang="en-US" sz="1300" dirty="0"/>
          </a:p>
          <a:p>
            <a:pPr marL="177800" indent="-177800">
              <a:spcAft>
                <a:spcPts val="800"/>
              </a:spcAft>
              <a:buSzPct val="100000"/>
              <a:buChar char="•"/>
            </a:pPr>
            <a:r>
              <a:rPr lang="en-US" sz="1300" dirty="0">
                <a:solidFill>
                  <a:srgbClr val="FFFFFF"/>
                </a:solidFill>
              </a:rPr>
              <a:t>Evidence frame and the VastDB SQL attached.</a:t>
            </a:r>
            <a:endParaRPr lang="en-US" sz="1300" dirty="0"/>
          </a:p>
          <a:p>
            <a:pPr marL="177800" indent="-177800">
              <a:spcAft>
                <a:spcPts val="800"/>
              </a:spcAft>
              <a:buSzPct val="100000"/>
              <a:buChar char="•"/>
            </a:pPr>
            <a:r>
              <a:rPr lang="en-US" sz="1300" dirty="0">
                <a:solidFill>
                  <a:srgbClr val="FFFFFF"/>
                </a:solidFill>
              </a:rPr>
              <a:t>Download as HTML · Copy as text · Print.</a:t>
            </a:r>
            <a:endParaRPr lang="en-US" sz="1300" dirty="0"/>
          </a:p>
          <a:p>
            <a:pPr marL="177800" indent="-177800">
              <a:spcAft>
                <a:spcPts val="800"/>
              </a:spcAft>
              <a:buSzPct val="100000"/>
              <a:buChar char="•"/>
            </a:pPr>
            <a:r>
              <a:rPr lang="en-US" sz="1300" dirty="0">
                <a:solidFill>
                  <a:srgbClr val="FFFFFF"/>
                </a:solidFill>
              </a:rPr>
              <a:t>Generated client-side from what the agent already fetched — no extra model call.</a:t>
            </a:r>
            <a:endParaRPr lang="en-US" sz="1300" dirty="0"/>
          </a:p>
        </p:txBody>
      </p:sp>
      <p:sp>
        <p:nvSpPr>
          <p:cNvPr id="5" name="Code"/>
          <p:cNvSpPr txBox="1"/>
          <p:nvPr/>
        </p:nvSpPr>
        <p:spPr>
          <a:xfrm>
            <a:off x="457200" y="4023360"/>
            <a:ext cx="4206240" cy="548640"/>
          </a:xfrm>
          <a:prstGeom prst="rect">
            <a:avLst/>
          </a:prstGeom>
          <a:solidFill>
            <a:srgbClr val="0B0F17"/>
          </a:solidFill>
          <a:ln w="9525">
            <a:solidFill>
              <a:srgbClr val="202A3D"/>
            </a:solidFill>
          </a:ln>
        </p:spPr>
        <p:txBody>
          <a:bodyPr wrap="square" lIns="1016" tIns="1016" rIns="1016" bIns="1016" rtlCol="0" anchor="ctr"/>
          <a:lstStyle/>
          <a:p>
            <a:pPr indent="0" marL="0">
              <a:buNone/>
            </a:pPr>
            <a:r>
              <a:rPr lang="en-US" sz="900" dirty="0">
                <a:solidFill>
                  <a:srgbClr val="FFCC33"/>
                </a:solidFill>
                <a:latin typeface="Courier New" pitchFamily="34" charset="0"/>
                <a:ea typeface="Courier New" pitchFamily="34" charset="-122"/>
                <a:cs typeface="Courier New" pitchFamily="34" charset="-120"/>
              </a:rPr>
              <a:t>INCIDENT REPORT HOP24-2610022143  ·  source archive: VastDB vss-collection  ·  corridor I-24 Nashville</a:t>
            </a:r>
            <a:endParaRPr lang="en-US" sz="900" dirty="0"/>
          </a:p>
        </p:txBody>
      </p:sp>
      <p:pic>
        <p:nvPicPr>
          <p:cNvPr id="6" name="Incident report modal" descr="/private/tmp/claude-501/-Users-moorthy-Downloads-Projects-Vast-builders-challenge/7304a5c7-b157-4453-b023-e17c033f4df9/scratchpad/deck/img/report_modal.jpg">    </p:cNvPr>
          <p:cNvPicPr>
            <a:picLocks noChangeAspect="1"/>
          </p:cNvPicPr>
          <p:nvPr/>
        </p:nvPicPr>
        <p:blipFill>
          <a:blip r:embed="rId1"/>
          <a:stretch>
            <a:fillRect/>
          </a:stretch>
        </p:blipFill>
        <p:spPr>
          <a:xfrm>
            <a:off x="5120640" y="960120"/>
            <a:ext cx="2743200" cy="3621024"/>
          </a:xfrm>
          <a:prstGeom prst="rect">
            <a:avLst/>
          </a:prstGeom>
        </p:spPr>
      </p:pic>
      <p:sp>
        <p:nvSpPr>
          <p:cNvPr id="7" name="Caption"/>
          <p:cNvSpPr txBox="1"/>
          <p:nvPr/>
        </p:nvSpPr>
        <p:spPr>
          <a:xfrm>
            <a:off x="7955280" y="4297680"/>
            <a:ext cx="731520" cy="274320"/>
          </a:xfrm>
          <a:prstGeom prst="rect">
            <a:avLst/>
          </a:prstGeom>
          <a:noFill/>
          <a:ln/>
        </p:spPr>
        <p:txBody>
          <a:bodyPr wrap="square" lIns="0" tIns="0" rIns="0" bIns="0" rtlCol="0" anchor="ctr"/>
          <a:lstStyle/>
          <a:p>
            <a:pPr indent="0" marL="0">
              <a:buNone/>
            </a:pPr>
            <a:r>
              <a:rPr lang="en-US" sz="900" i="1" dirty="0">
                <a:solidFill>
                  <a:srgbClr val="AEB6C4"/>
                </a:solidFill>
              </a:rPr>
              <a:t>mock-mode capture</a:t>
            </a:r>
            <a:endParaRPr lang="en-US" sz="90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300" kern="0" dirty="0">
                <a:solidFill>
                  <a:srgbClr val="FFCC33"/>
                </a:solidFill>
              </a:rPr>
              <a:t>SHARPEN THE ARCHIVE</a:t>
            </a:r>
            <a:endParaRPr lang="en-US" sz="1000" dirty="0"/>
          </a:p>
        </p:txBody>
      </p:sp>
      <p:sp>
        <p:nvSpPr>
          <p:cNvPr id="3" name="Title"/>
          <p:cNvSpPr txBox="1"/>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FFFFFF"/>
                </a:solidFill>
              </a:rPr>
              <a:t>The prompt decides what gets indexed</a:t>
            </a:r>
            <a:endParaRPr lang="en-US" sz="2800" dirty="0"/>
          </a:p>
        </p:txBody>
      </p:sp>
      <p:sp>
        <p:nvSpPr>
          <p:cNvPr id="4" name="Card"/>
          <p:cNvSpPr/>
          <p:nvPr/>
        </p:nvSpPr>
        <p:spPr>
          <a:xfrm>
            <a:off x="457200" y="1188720"/>
            <a:ext cx="3931920" cy="2103120"/>
          </a:xfrm>
          <a:prstGeom prst="roundRect">
            <a:avLst>
              <a:gd name="adj" fmla="val 3478"/>
            </a:avLst>
          </a:prstGeom>
          <a:solidFill>
            <a:srgbClr val="121826"/>
          </a:solidFill>
          <a:ln w="9525">
            <a:solidFill>
              <a:srgbClr val="202A3D"/>
            </a:solidFill>
            <a:prstDash val="solid"/>
          </a:ln>
        </p:spPr>
      </p:sp>
      <p:sp>
        <p:nvSpPr>
          <p:cNvPr id="5" name="Before head"/>
          <p:cNvSpPr txBox="1"/>
          <p:nvPr/>
        </p:nvSpPr>
        <p:spPr>
          <a:xfrm>
            <a:off x="640080" y="1280160"/>
            <a:ext cx="3566160" cy="274320"/>
          </a:xfrm>
          <a:prstGeom prst="rect">
            <a:avLst/>
          </a:prstGeom>
          <a:noFill/>
          <a:ln/>
        </p:spPr>
        <p:txBody>
          <a:bodyPr wrap="square" lIns="0" tIns="0" rIns="0" bIns="0" rtlCol="0" anchor="ctr"/>
          <a:lstStyle/>
          <a:p>
            <a:pPr indent="0" marL="0">
              <a:buNone/>
            </a:pPr>
            <a:r>
              <a:rPr lang="en-US" sz="1100" b="1" dirty="0">
                <a:solidFill>
                  <a:srgbClr val="AEB6C4"/>
                </a:solidFill>
              </a:rPr>
              <a:t>BEFORE · stock prompt</a:t>
            </a:r>
            <a:endParaRPr lang="en-US" sz="1100" dirty="0"/>
          </a:p>
        </p:txBody>
      </p:sp>
      <p:sp>
        <p:nvSpPr>
          <p:cNvPr id="6" name="Before body"/>
          <p:cNvSpPr txBox="1"/>
          <p:nvPr/>
        </p:nvSpPr>
        <p:spPr>
          <a:xfrm>
            <a:off x="640080" y="1600200"/>
            <a:ext cx="3566160" cy="1828800"/>
          </a:xfrm>
          <a:prstGeom prst="rect">
            <a:avLst/>
          </a:prstGeom>
          <a:noFill/>
          <a:ln/>
        </p:spPr>
        <p:txBody>
          <a:bodyPr wrap="square" lIns="0" tIns="0" rIns="0" bIns="0" rtlCol="0" anchor="t"/>
          <a:lstStyle/>
          <a:p>
            <a:pPr indent="0" marL="0">
              <a:spcAft>
                <a:spcPts val="600"/>
              </a:spcAft>
              <a:buNone/>
            </a:pPr>
            <a:r>
              <a:rPr lang="en-US" sz="1300" b="1" dirty="0">
                <a:solidFill>
                  <a:srgbClr val="FFCC33"/>
                </a:solidFill>
              </a:rPr>
              <a:t>141 / 180</a:t>
            </a:r>
            <a:pPr indent="0" marL="0">
              <a:spcAft>
                <a:spcPts val="600"/>
              </a:spcAft>
              <a:buNone/>
            </a:pPr>
            <a:r>
              <a:rPr lang="en-US" sz="1300" dirty="0">
                <a:solidFill>
                  <a:srgbClr val="FFFFFF"/>
                </a:solidFill>
              </a:rPr>
              <a:t>  captions name a vehicle colour</a:t>
            </a:r>
            <a:endParaRPr lang="en-US" sz="1300" dirty="0"/>
          </a:p>
          <a:p>
            <a:pPr indent="0" marL="0">
              <a:spcAft>
                <a:spcPts val="600"/>
              </a:spcAft>
              <a:buNone/>
            </a:pPr>
            <a:r>
              <a:rPr lang="en-US" sz="1300" b="1" dirty="0">
                <a:solidFill>
                  <a:srgbClr val="FFCC33"/>
                </a:solidFill>
              </a:rPr>
              <a:t>48 / 180</a:t>
            </a:r>
            <a:pPr indent="0" marL="0">
              <a:spcAft>
                <a:spcPts val="600"/>
              </a:spcAft>
              <a:buNone/>
            </a:pPr>
            <a:r>
              <a:rPr lang="en-US" sz="1300" dirty="0">
                <a:solidFill>
                  <a:srgbClr val="FFFFFF"/>
                </a:solidFill>
              </a:rPr>
              <a:t>  say which lane</a:t>
            </a:r>
            <a:endParaRPr lang="en-US" sz="1300" dirty="0"/>
          </a:p>
          <a:p>
            <a:pPr indent="0" marL="0">
              <a:spcAft>
                <a:spcPts val="600"/>
              </a:spcAft>
              <a:buNone/>
            </a:pPr>
            <a:r>
              <a:rPr lang="en-US" sz="1300" b="1" dirty="0">
                <a:solidFill>
                  <a:srgbClr val="FF5A5F"/>
                </a:solidFill>
              </a:rPr>
              <a:t>0 / 180</a:t>
            </a:r>
            <a:pPr indent="0" marL="0">
              <a:spcAft>
                <a:spcPts val="600"/>
              </a:spcAft>
              <a:buNone/>
            </a:pPr>
            <a:r>
              <a:rPr lang="en-US" sz="1300" dirty="0">
                <a:solidFill>
                  <a:srgbClr val="FFFFFF"/>
                </a:solidFill>
              </a:rPr>
              <a:t>  give a lane number</a:t>
            </a:r>
            <a:endParaRPr lang="en-US" sz="1300" dirty="0"/>
          </a:p>
          <a:p>
            <a:pPr indent="0" marL="0">
              <a:spcAft>
                <a:spcPts val="600"/>
              </a:spcAft>
              <a:buNone/>
            </a:pPr>
            <a:r>
              <a:rPr lang="en-US" sz="1300" i="1" dirty="0">
                <a:solidFill>
                  <a:srgbClr val="AEB6C4"/>
                </a:solidFill>
              </a:rPr>
              <a:t>“white semi truck” finds colour-similar segments, but cannot say lane 2 vs lane 4.</a:t>
            </a:r>
            <a:endParaRPr lang="en-US" sz="1300" dirty="0"/>
          </a:p>
        </p:txBody>
      </p:sp>
      <p:sp>
        <p:nvSpPr>
          <p:cNvPr id="7" name="Card"/>
          <p:cNvSpPr/>
          <p:nvPr/>
        </p:nvSpPr>
        <p:spPr>
          <a:xfrm>
            <a:off x="4754880" y="1188720"/>
            <a:ext cx="3931920" cy="2103120"/>
          </a:xfrm>
          <a:prstGeom prst="roundRect">
            <a:avLst>
              <a:gd name="adj" fmla="val 3478"/>
            </a:avLst>
          </a:prstGeom>
          <a:solidFill>
            <a:srgbClr val="1F2A1B"/>
          </a:solidFill>
          <a:ln w="9525">
            <a:solidFill>
              <a:srgbClr val="202A3D"/>
            </a:solidFill>
            <a:prstDash val="solid"/>
          </a:ln>
        </p:spPr>
      </p:sp>
      <p:sp>
        <p:nvSpPr>
          <p:cNvPr id="8" name="After head"/>
          <p:cNvSpPr txBox="1"/>
          <p:nvPr/>
        </p:nvSpPr>
        <p:spPr>
          <a:xfrm>
            <a:off x="4937760" y="1280160"/>
            <a:ext cx="3566160" cy="274320"/>
          </a:xfrm>
          <a:prstGeom prst="rect">
            <a:avLst/>
          </a:prstGeom>
          <a:noFill/>
          <a:ln/>
        </p:spPr>
        <p:txBody>
          <a:bodyPr wrap="square" lIns="0" tIns="0" rIns="0" bIns="0" rtlCol="0" anchor="ctr"/>
          <a:lstStyle/>
          <a:p>
            <a:pPr indent="0" marL="0">
              <a:buNone/>
            </a:pPr>
            <a:r>
              <a:rPr lang="en-US" sz="1100" b="1" dirty="0">
                <a:solidFill>
                  <a:srgbClr val="4CD38A"/>
                </a:solidFill>
              </a:rPr>
              <a:t>AFTER · investigator prompt (main.py)</a:t>
            </a:r>
            <a:endParaRPr lang="en-US" sz="1100" dirty="0"/>
          </a:p>
        </p:txBody>
      </p:sp>
      <p:sp>
        <p:nvSpPr>
          <p:cNvPr id="9" name="After body"/>
          <p:cNvSpPr txBox="1"/>
          <p:nvPr/>
        </p:nvSpPr>
        <p:spPr>
          <a:xfrm>
            <a:off x="4937760" y="1600200"/>
            <a:ext cx="3566160" cy="1828800"/>
          </a:xfrm>
          <a:prstGeom prst="rect">
            <a:avLst/>
          </a:prstGeom>
          <a:noFill/>
          <a:ln/>
        </p:spPr>
        <p:txBody>
          <a:bodyPr wrap="square" lIns="0" tIns="0" rIns="0" bIns="0" rtlCol="0" anchor="t"/>
          <a:lstStyle/>
          <a:p>
            <a:pPr indent="0" marL="0">
              <a:buNone/>
            </a:pPr>
            <a:r>
              <a:rPr lang="en-US" sz="1100" i="1" dirty="0">
                <a:solidFill>
                  <a:srgbClr val="FFFFFF"/>
                </a:solidFill>
              </a:rPr>
              <a:t>“For every vehicle give: type (sedan, SUV, pickup, van, semi-truck, box truck, bus), colour, lane number counted from the left shoulder, direction of travel, and distinguishing features (trailer, cargo, roof rack, markings). Note any vehicle changing lanes, braking, or passing close to another, with the time in seconds.”</a:t>
            </a:r>
            <a:endParaRPr lang="en-US" sz="1100" dirty="0"/>
          </a:p>
        </p:txBody>
      </p:sp>
      <p:sp>
        <p:nvSpPr>
          <p:cNvPr id="10" name="Card"/>
          <p:cNvSpPr/>
          <p:nvPr/>
        </p:nvSpPr>
        <p:spPr>
          <a:xfrm>
            <a:off x="457200" y="3566160"/>
            <a:ext cx="1920240" cy="685800"/>
          </a:xfrm>
          <a:prstGeom prst="roundRect">
            <a:avLst>
              <a:gd name="adj" fmla="val 10667"/>
            </a:avLst>
          </a:prstGeom>
          <a:solidFill>
            <a:srgbClr val="1B2333"/>
          </a:solidFill>
          <a:ln w="9525">
            <a:solidFill>
              <a:srgbClr val="202A3D"/>
            </a:solidFill>
            <a:prstDash val="solid"/>
          </a:ln>
        </p:spPr>
      </p:sp>
      <p:sp>
        <p:nvSpPr>
          <p:cNvPr id="11" name="Flow step"/>
          <p:cNvSpPr txBox="1"/>
          <p:nvPr/>
        </p:nvSpPr>
        <p:spPr>
          <a:xfrm>
            <a:off x="457200" y="3566160"/>
            <a:ext cx="1920240" cy="685800"/>
          </a:xfrm>
          <a:prstGeom prst="rect">
            <a:avLst/>
          </a:prstGeom>
          <a:noFill/>
          <a:ln/>
        </p:spPr>
        <p:txBody>
          <a:bodyPr wrap="square" lIns="508" tIns="508" rIns="508" bIns="508" rtlCol="0" anchor="ctr"/>
          <a:lstStyle/>
          <a:p>
            <a:pPr algn="ctr" indent="0" marL="0">
              <a:buNone/>
            </a:pPr>
            <a:r>
              <a:rPr lang="en-US" sz="1000" dirty="0">
                <a:solidFill>
                  <a:srgbClr val="FFFFFF"/>
                </a:solidFill>
              </a:rPr>
              <a:t>POST /redescribe</a:t>
            </a:r>
            <a:endParaRPr lang="en-US" sz="1000" dirty="0"/>
          </a:p>
        </p:txBody>
      </p:sp>
      <p:sp>
        <p:nvSpPr>
          <p:cNvPr id="12" name="Card"/>
          <p:cNvSpPr/>
          <p:nvPr/>
        </p:nvSpPr>
        <p:spPr>
          <a:xfrm>
            <a:off x="2560320" y="3566160"/>
            <a:ext cx="1920240" cy="685800"/>
          </a:xfrm>
          <a:prstGeom prst="roundRect">
            <a:avLst>
              <a:gd name="adj" fmla="val 10667"/>
            </a:avLst>
          </a:prstGeom>
          <a:solidFill>
            <a:srgbClr val="1B2333"/>
          </a:solidFill>
          <a:ln w="9525">
            <a:solidFill>
              <a:srgbClr val="202A3D"/>
            </a:solidFill>
            <a:prstDash val="solid"/>
          </a:ln>
        </p:spPr>
      </p:sp>
      <p:sp>
        <p:nvSpPr>
          <p:cNvPr id="13" name="Flow step"/>
          <p:cNvSpPr txBox="1"/>
          <p:nvPr/>
        </p:nvSpPr>
        <p:spPr>
          <a:xfrm>
            <a:off x="2560320" y="3566160"/>
            <a:ext cx="1920240" cy="685800"/>
          </a:xfrm>
          <a:prstGeom prst="rect">
            <a:avLst/>
          </a:prstGeom>
          <a:noFill/>
          <a:ln/>
        </p:spPr>
        <p:txBody>
          <a:bodyPr wrap="square" lIns="508" tIns="508" rIns="508" bIns="508" rtlCol="0" anchor="ctr"/>
          <a:lstStyle/>
          <a:p>
            <a:pPr algn="ctr" indent="0" marL="0">
              <a:buNone/>
            </a:pPr>
            <a:r>
              <a:rPr lang="en-US" sz="1000" dirty="0">
                <a:solidFill>
                  <a:srgbClr val="FFFFFF"/>
                </a:solidFill>
              </a:rPr>
              <a:t>/dashboard/reingest</a:t>
            </a:r>
            <a:endParaRPr lang="en-US" sz="1000" dirty="0"/>
          </a:p>
          <a:p>
            <a:pPr algn="ctr" indent="0" marL="0">
              <a:buNone/>
            </a:pPr>
            <a:r>
              <a:rPr lang="en-US" sz="1000" dirty="0">
                <a:solidFill>
                  <a:srgbClr val="FFFFFF"/>
                </a:solidFill>
              </a:rPr>
              <a:t>custom prompt ≤ 800 chars</a:t>
            </a:r>
            <a:endParaRPr lang="en-US" sz="1000" dirty="0"/>
          </a:p>
        </p:txBody>
      </p:sp>
      <p:sp>
        <p:nvSpPr>
          <p:cNvPr id="14" name="Card"/>
          <p:cNvSpPr/>
          <p:nvPr/>
        </p:nvSpPr>
        <p:spPr>
          <a:xfrm>
            <a:off x="4663440" y="3566160"/>
            <a:ext cx="1920240" cy="685800"/>
          </a:xfrm>
          <a:prstGeom prst="roundRect">
            <a:avLst>
              <a:gd name="adj" fmla="val 10667"/>
            </a:avLst>
          </a:prstGeom>
          <a:solidFill>
            <a:srgbClr val="1B2333"/>
          </a:solidFill>
          <a:ln w="9525">
            <a:solidFill>
              <a:srgbClr val="202A3D"/>
            </a:solidFill>
            <a:prstDash val="solid"/>
          </a:ln>
        </p:spPr>
      </p:sp>
      <p:sp>
        <p:nvSpPr>
          <p:cNvPr id="15" name="Flow step"/>
          <p:cNvSpPr txBox="1"/>
          <p:nvPr/>
        </p:nvSpPr>
        <p:spPr>
          <a:xfrm>
            <a:off x="4663440" y="3566160"/>
            <a:ext cx="1920240" cy="685800"/>
          </a:xfrm>
          <a:prstGeom prst="rect">
            <a:avLst/>
          </a:prstGeom>
          <a:noFill/>
          <a:ln/>
        </p:spPr>
        <p:txBody>
          <a:bodyPr wrap="square" lIns="508" tIns="508" rIns="508" bIns="508" rtlCol="0" anchor="ctr"/>
          <a:lstStyle/>
          <a:p>
            <a:pPr algn="ctr" indent="0" marL="0">
              <a:buNone/>
            </a:pPr>
            <a:r>
              <a:rPr lang="en-US" sz="1000" dirty="0">
                <a:solidFill>
                  <a:srgbClr val="FFFFFF"/>
                </a:solidFill>
              </a:rPr>
              <a:t>pipeline re-describes</a:t>
            </a:r>
            <a:endParaRPr lang="en-US" sz="1000" dirty="0"/>
          </a:p>
          <a:p>
            <a:pPr algn="ctr" indent="0" marL="0">
              <a:buNone/>
            </a:pPr>
            <a:r>
              <a:rPr lang="en-US" sz="1000" dirty="0">
                <a:solidFill>
                  <a:srgbClr val="FFFFFF"/>
                </a:solidFill>
              </a:rPr>
              <a:t>(takes minutes)</a:t>
            </a:r>
            <a:endParaRPr lang="en-US" sz="1000" dirty="0"/>
          </a:p>
        </p:txBody>
      </p:sp>
      <p:sp>
        <p:nvSpPr>
          <p:cNvPr id="16" name="Card"/>
          <p:cNvSpPr/>
          <p:nvPr/>
        </p:nvSpPr>
        <p:spPr>
          <a:xfrm>
            <a:off x="6766560" y="3566160"/>
            <a:ext cx="1920240" cy="685800"/>
          </a:xfrm>
          <a:prstGeom prst="roundRect">
            <a:avLst>
              <a:gd name="adj" fmla="val 10667"/>
            </a:avLst>
          </a:prstGeom>
          <a:solidFill>
            <a:srgbClr val="1F2A1B"/>
          </a:solidFill>
          <a:ln w="9525">
            <a:solidFill>
              <a:srgbClr val="202A3D"/>
            </a:solidFill>
            <a:prstDash val="solid"/>
          </a:ln>
        </p:spPr>
      </p:sp>
      <p:sp>
        <p:nvSpPr>
          <p:cNvPr id="17" name="Flow step"/>
          <p:cNvSpPr txBox="1"/>
          <p:nvPr/>
        </p:nvSpPr>
        <p:spPr>
          <a:xfrm>
            <a:off x="6766560" y="3566160"/>
            <a:ext cx="1920240" cy="685800"/>
          </a:xfrm>
          <a:prstGeom prst="rect">
            <a:avLst/>
          </a:prstGeom>
          <a:noFill/>
          <a:ln/>
        </p:spPr>
        <p:txBody>
          <a:bodyPr wrap="square" lIns="508" tIns="508" rIns="508" bIns="508" rtlCol="0" anchor="ctr"/>
          <a:lstStyle/>
          <a:p>
            <a:pPr algn="ctr" indent="0" marL="0">
              <a:buNone/>
            </a:pPr>
            <a:r>
              <a:rPr lang="en-US" sz="1000" b="1" dirty="0">
                <a:solidFill>
                  <a:srgbClr val="4CD38A"/>
                </a:solidFill>
              </a:rPr>
              <a:t>re-read caption →</a:t>
            </a:r>
            <a:endParaRPr lang="en-US" sz="1000" dirty="0"/>
          </a:p>
          <a:p>
            <a:pPr algn="ctr" indent="0" marL="0">
              <a:buNone/>
            </a:pPr>
            <a:r>
              <a:rPr lang="en-US" sz="1000" b="1" dirty="0">
                <a:solidFill>
                  <a:srgbClr val="4CD38A"/>
                </a:solidFill>
              </a:rPr>
              <a:t>next search is sharper</a:t>
            </a:r>
            <a:endParaRPr lang="en-US" sz="1000" dirty="0"/>
          </a:p>
        </p:txBody>
      </p:sp>
      <p:sp>
        <p:nvSpPr>
          <p:cNvPr id="18" name="Caption"/>
          <p:cNvSpPr txBox="1"/>
          <p:nvPr/>
        </p:nvSpPr>
        <p:spPr>
          <a:xfrm>
            <a:off x="457200" y="4389120"/>
            <a:ext cx="8229600" cy="274320"/>
          </a:xfrm>
          <a:prstGeom prst="rect">
            <a:avLst/>
          </a:prstGeom>
          <a:noFill/>
          <a:ln/>
        </p:spPr>
        <p:txBody>
          <a:bodyPr wrap="square" lIns="0" tIns="0" rIns="0" bIns="0" rtlCol="0" anchor="ctr"/>
          <a:lstStyle/>
          <a:p>
            <a:pPr indent="0" marL="0">
              <a:buNone/>
            </a:pPr>
            <a:r>
              <a:rPr lang="en-US" sz="900" i="1" dirty="0">
                <a:solidFill>
                  <a:srgbClr val="AEB6C4"/>
                </a:solidFill>
              </a:rPr>
              <a:t>Honest: re-describe runs through the real DataEngine pipeline and takes minutes, so it is pre-run before the demo.</a:t>
            </a:r>
            <a:endParaRPr lang="en-US" sz="90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300" kern="0" dirty="0">
                <a:solidFill>
                  <a:srgbClr val="FFCC33"/>
                </a:solidFill>
              </a:rPr>
              <a:t>AUTOPILOT</a:t>
            </a:r>
            <a:endParaRPr lang="en-US" sz="1000" dirty="0"/>
          </a:p>
        </p:txBody>
      </p:sp>
      <p:sp>
        <p:nvSpPr>
          <p:cNvPr id="3" name="Title"/>
          <p:cNvSpPr txBox="1"/>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FFFFFF"/>
                </a:solidFill>
              </a:rPr>
              <a:t>The agent crosses on its own — no peeking</a:t>
            </a:r>
            <a:endParaRPr lang="en-US" sz="2800" dirty="0"/>
          </a:p>
        </p:txBody>
      </p:sp>
      <p:sp>
        <p:nvSpPr>
          <p:cNvPr id="4" name="Body"/>
          <p:cNvSpPr txBox="1"/>
          <p:nvPr/>
        </p:nvSpPr>
        <p:spPr>
          <a:xfrm>
            <a:off x="457200" y="1188720"/>
            <a:ext cx="4297680" cy="26517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FFFFFF"/>
                </a:solidFill>
              </a:rPr>
              <a:t>Velocity per vehicle from nearest-neighbour matching of boxes between frames (label-agnostic).</a:t>
            </a:r>
            <a:endParaRPr lang="en-US" sz="1200" dirty="0"/>
          </a:p>
          <a:p>
            <a:pPr marL="177800" indent="-177800">
              <a:spcAft>
                <a:spcPts val="800"/>
              </a:spcAft>
              <a:buSzPct val="100000"/>
              <a:buChar char="•"/>
            </a:pPr>
            <a:r>
              <a:rPr lang="en-US" sz="1200" dirty="0">
                <a:solidFill>
                  <a:srgbClr val="FFFFFF"/>
                </a:solidFill>
              </a:rPr>
              <a:t>Hops to the next lane only if no box is predicted to overlap it within 0.65 s; dodges back if its own cell is threatened.</a:t>
            </a:r>
            <a:endParaRPr lang="en-US" sz="1200" dirty="0"/>
          </a:p>
          <a:p>
            <a:pPr marL="177800" indent="-177800">
              <a:spcAft>
                <a:spcPts val="800"/>
              </a:spcAft>
              <a:buSzPct val="100000"/>
              <a:buChar char="•"/>
            </a:pPr>
            <a:r>
              <a:rPr lang="en-US" sz="1200" dirty="0">
                <a:solidFill>
                  <a:srgbClr val="FFFFFF"/>
                </a:solidFill>
              </a:rPr>
              <a:t>Uses only the stored detections up to the current frame; boxes without an estimate are assumed at highway speed.</a:t>
            </a:r>
            <a:endParaRPr lang="en-US" sz="1200" dirty="0"/>
          </a:p>
          <a:p>
            <a:pPr marL="177800" indent="-177800">
              <a:spcAft>
                <a:spcPts val="800"/>
              </a:spcAft>
              <a:buSzPct val="100000"/>
              <a:buChar char="•"/>
            </a:pPr>
            <a:r>
              <a:rPr lang="en-US" sz="1200" dirty="0">
                <a:solidFill>
                  <a:srgbClr val="FFFFFF"/>
                </a:solidFill>
              </a:rPr>
              <a:t>Crossed in 2.2 s on chunk_0003. On another run a semi (labelled bus, 74%) got it at 2.4 s — it is honest, not scripted.</a:t>
            </a:r>
            <a:endParaRPr lang="en-US" sz="1200" dirty="0"/>
          </a:p>
        </p:txBody>
      </p:sp>
      <p:pic>
        <p:nvPicPr>
          <p:cNvPr id="5" name="CROSSED: the agent crossed in 2.2 s" descr="/private/tmp/claude-501/-Users-moorthy-Downloads-Projects-Vast-builders-challenge/7304a5c7-b157-4453-b023-e17c033f4df9/scratchpad/deck/img/crossed_game.jpg">    </p:cNvPr>
          <p:cNvPicPr>
            <a:picLocks noChangeAspect="1"/>
          </p:cNvPicPr>
          <p:nvPr/>
        </p:nvPicPr>
        <p:blipFill>
          <a:blip r:embed="rId1"/>
          <a:stretch>
            <a:fillRect/>
          </a:stretch>
        </p:blipFill>
        <p:spPr>
          <a:xfrm>
            <a:off x="5029200" y="1188720"/>
            <a:ext cx="3657600" cy="2011680"/>
          </a:xfrm>
          <a:prstGeom prst="rect">
            <a:avLst/>
          </a:prstGeom>
        </p:spPr>
      </p:pic>
      <p:sp>
        <p:nvSpPr>
          <p:cNvPr id="6" name="Code"/>
          <p:cNvSpPr txBox="1"/>
          <p:nvPr/>
        </p:nvSpPr>
        <p:spPr>
          <a:xfrm>
            <a:off x="5029200" y="3291840"/>
            <a:ext cx="3657600" cy="365760"/>
          </a:xfrm>
          <a:prstGeom prst="rect">
            <a:avLst/>
          </a:prstGeom>
          <a:solidFill>
            <a:srgbClr val="0B0F17"/>
          </a:solidFill>
          <a:ln w="9525">
            <a:solidFill>
              <a:srgbClr val="202A3D"/>
            </a:solidFill>
          </a:ln>
        </p:spPr>
        <p:txBody>
          <a:bodyPr wrap="square" lIns="1016" tIns="1016" rIns="1016" bIns="1016" rtlCol="0" anchor="ctr"/>
          <a:lstStyle/>
          <a:p>
            <a:pPr indent="0" marL="0">
              <a:buNone/>
            </a:pPr>
            <a:r>
              <a:rPr lang="en-US" sz="1000" dirty="0">
                <a:solidFill>
                  <a:srgbClr val="FFCC33"/>
                </a:solidFill>
                <a:latin typeface="Courier New" pitchFamily="34" charset="0"/>
                <a:ea typeface="Courier New" pitchFamily="34" charset="-122"/>
                <a:cs typeface="Courier New" pitchFamily="34" charset="-120"/>
              </a:rPr>
              <a:t>thought: next lane clear for 0.65 s → hop</a:t>
            </a:r>
            <a:endParaRPr lang="en-US" sz="1000" dirty="0"/>
          </a:p>
        </p:txBody>
      </p:sp>
      <p:pic>
        <p:nvPicPr>
          <p:cNvPr id="7" name="Blender-rendered chicken sprite sheet" descr="/Users/moorthy/Downloads/Projects/Vast builders challenge/hop24/docs/img/chicken_sheet.png">    </p:cNvPr>
          <p:cNvPicPr>
            <a:picLocks noChangeAspect="1"/>
          </p:cNvPicPr>
          <p:nvPr/>
        </p:nvPicPr>
        <p:blipFill>
          <a:blip r:embed="rId2"/>
          <a:stretch>
            <a:fillRect/>
          </a:stretch>
        </p:blipFill>
        <p:spPr>
          <a:xfrm>
            <a:off x="457200" y="3886200"/>
            <a:ext cx="8229600" cy="914400"/>
          </a:xfrm>
          <a:prstGeom prst="rect">
            <a:avLst/>
          </a:prstGeom>
        </p:spPr>
      </p:pic>
      <p:sp>
        <p:nvSpPr>
          <p:cNvPr id="8" name="Caption"/>
          <p:cNvSpPr txBox="1"/>
          <p:nvPr/>
        </p:nvSpPr>
        <p:spPr>
          <a:xfrm>
            <a:off x="457200" y="4572000"/>
            <a:ext cx="8229600" cy="274320"/>
          </a:xfrm>
          <a:prstGeom prst="rect">
            <a:avLst/>
          </a:prstGeom>
          <a:noFill/>
          <a:ln/>
        </p:spPr>
        <p:txBody>
          <a:bodyPr wrap="square" lIns="0" tIns="0" rIns="0" bIns="0" rtlCol="0" anchor="ctr"/>
          <a:lstStyle/>
          <a:p>
            <a:pPr indent="0" marL="0">
              <a:buNone/>
            </a:pPr>
            <a:r>
              <a:rPr lang="en-US" sz="900" i="1" dirty="0">
                <a:solidFill>
                  <a:srgbClr val="AEB6C4"/>
                </a:solidFill>
              </a:rPr>
              <a:t>Blender Eevee, headless bpy (blender/chicken.py): 8-frame hop cycle + splat frame, drawn with a soft shadow, rotated to face the far side</a:t>
            </a:r>
            <a:endParaRPr lang="en-US" sz="90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457200" y="109728"/>
            <a:ext cx="8229600" cy="228600"/>
          </a:xfrm>
          <a:prstGeom prst="rect">
            <a:avLst/>
          </a:prstGeom>
          <a:noFill/>
          <a:ln/>
        </p:spPr>
        <p:txBody>
          <a:bodyPr wrap="square" lIns="0" tIns="0" rIns="0" bIns="0" rtlCol="0" anchor="ctr"/>
          <a:lstStyle/>
          <a:p>
            <a:pPr indent="0" marL="0">
              <a:buNone/>
            </a:pPr>
            <a:r>
              <a:rPr lang="en-US" sz="1000" b="1" spc="300" kern="0" dirty="0">
                <a:solidFill>
                  <a:srgbClr val="FFCC33"/>
                </a:solidFill>
              </a:rPr>
              <a:t>ARCHITECTURE · WHAT'S NEXT · HONEST LIMITS</a:t>
            </a:r>
            <a:endParaRPr lang="en-US" sz="1000" dirty="0"/>
          </a:p>
        </p:txBody>
      </p:sp>
      <p:sp>
        <p:nvSpPr>
          <p:cNvPr id="3" name="Title"/>
          <p:cNvSpPr txBox="1"/>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FFFFFF"/>
                </a:solidFill>
              </a:rPr>
              <a:t>Built on the archive, not beside it</a:t>
            </a:r>
            <a:endParaRPr lang="en-US" sz="2800" dirty="0"/>
          </a:p>
        </p:txBody>
      </p:sp>
      <p:sp>
        <p:nvSpPr>
          <p:cNvPr id="4" name="Card"/>
          <p:cNvSpPr/>
          <p:nvPr/>
        </p:nvSpPr>
        <p:spPr>
          <a:xfrm>
            <a:off x="457200" y="1051560"/>
            <a:ext cx="1554480" cy="960120"/>
          </a:xfrm>
          <a:prstGeom prst="roundRect">
            <a:avLst>
              <a:gd name="adj" fmla="val 7619"/>
            </a:avLst>
          </a:prstGeom>
          <a:solidFill>
            <a:srgbClr val="121826"/>
          </a:solidFill>
          <a:ln w="9525">
            <a:solidFill>
              <a:srgbClr val="202A3D"/>
            </a:solidFill>
            <a:prstDash val="solid"/>
          </a:ln>
        </p:spPr>
      </p:sp>
      <p:sp>
        <p:nvSpPr>
          <p:cNvPr id="5" name="Arch node"/>
          <p:cNvSpPr txBox="1"/>
          <p:nvPr/>
        </p:nvSpPr>
        <p:spPr>
          <a:xfrm>
            <a:off x="457200" y="1051560"/>
            <a:ext cx="1554480" cy="960120"/>
          </a:xfrm>
          <a:prstGeom prst="rect">
            <a:avLst/>
          </a:prstGeom>
          <a:noFill/>
          <a:ln/>
        </p:spPr>
        <p:txBody>
          <a:bodyPr wrap="square" lIns="508" tIns="508" rIns="508" bIns="508" rtlCol="0" anchor="ctr"/>
          <a:lstStyle/>
          <a:p>
            <a:pPr algn="ctr" indent="0" marL="0">
              <a:buNone/>
            </a:pPr>
            <a:r>
              <a:rPr lang="en-US" sz="1100" b="1" dirty="0">
                <a:solidFill>
                  <a:srgbClr val="FFCC33"/>
                </a:solidFill>
              </a:rPr>
              <a:t>Browser</a:t>
            </a:r>
            <a:endParaRPr lang="en-US" sz="1100" dirty="0"/>
          </a:p>
          <a:p>
            <a:pPr algn="ctr" indent="0" marL="0">
              <a:buNone/>
            </a:pPr>
            <a:r>
              <a:rPr lang="en-US" sz="850" dirty="0">
                <a:solidFill>
                  <a:srgbClr val="FFFFFF"/>
                </a:solidFill>
              </a:rPr>
              <a:t>single HTML/JS page</a:t>
            </a:r>
            <a:endParaRPr lang="en-US" sz="1100" dirty="0"/>
          </a:p>
          <a:p>
            <a:pPr algn="ctr" indent="0" marL="0">
              <a:buNone/>
            </a:pPr>
            <a:r>
              <a:rPr lang="en-US" sz="850" dirty="0">
                <a:solidFill>
                  <a:srgbClr val="FFFFFF"/>
                </a:solidFill>
              </a:rPr>
              <a:t>canvas 1280×720</a:t>
            </a:r>
            <a:endParaRPr lang="en-US" sz="1100" dirty="0"/>
          </a:p>
        </p:txBody>
      </p:sp>
      <p:sp>
        <p:nvSpPr>
          <p:cNvPr id="6" name="Arrow"/>
          <p:cNvSpPr txBox="1"/>
          <p:nvPr/>
        </p:nvSpPr>
        <p:spPr>
          <a:xfrm>
            <a:off x="1993392" y="1051560"/>
            <a:ext cx="150876" cy="960120"/>
          </a:xfrm>
          <a:prstGeom prst="rect">
            <a:avLst/>
          </a:prstGeom>
          <a:noFill/>
          <a:ln/>
        </p:spPr>
        <p:txBody>
          <a:bodyPr wrap="square" lIns="0" tIns="0" rIns="0" bIns="0" rtlCol="0" anchor="ctr"/>
          <a:lstStyle/>
          <a:p>
            <a:pPr algn="ctr" indent="0" marL="0">
              <a:buNone/>
            </a:pPr>
            <a:r>
              <a:rPr lang="en-US" sz="1600" dirty="0">
                <a:solidFill>
                  <a:srgbClr val="FFCC33"/>
                </a:solidFill>
              </a:rPr>
              <a:t>›</a:t>
            </a:r>
            <a:endParaRPr lang="en-US" sz="1600" dirty="0"/>
          </a:p>
        </p:txBody>
      </p:sp>
      <p:sp>
        <p:nvSpPr>
          <p:cNvPr id="7" name="Card"/>
          <p:cNvSpPr/>
          <p:nvPr/>
        </p:nvSpPr>
        <p:spPr>
          <a:xfrm>
            <a:off x="2125980" y="1051560"/>
            <a:ext cx="1554480" cy="960120"/>
          </a:xfrm>
          <a:prstGeom prst="roundRect">
            <a:avLst>
              <a:gd name="adj" fmla="val 7619"/>
            </a:avLst>
          </a:prstGeom>
          <a:solidFill>
            <a:srgbClr val="121826"/>
          </a:solidFill>
          <a:ln w="9525">
            <a:solidFill>
              <a:srgbClr val="202A3D"/>
            </a:solidFill>
            <a:prstDash val="solid"/>
          </a:ln>
        </p:spPr>
      </p:sp>
      <p:sp>
        <p:nvSpPr>
          <p:cNvPr id="8" name="Arch node"/>
          <p:cNvSpPr txBox="1"/>
          <p:nvPr/>
        </p:nvSpPr>
        <p:spPr>
          <a:xfrm>
            <a:off x="2125980" y="1051560"/>
            <a:ext cx="1554480" cy="960120"/>
          </a:xfrm>
          <a:prstGeom prst="rect">
            <a:avLst/>
          </a:prstGeom>
          <a:noFill/>
          <a:ln/>
        </p:spPr>
        <p:txBody>
          <a:bodyPr wrap="square" lIns="508" tIns="508" rIns="508" bIns="508" rtlCol="0" anchor="ctr"/>
          <a:lstStyle/>
          <a:p>
            <a:pPr algn="ctr" indent="0" marL="0">
              <a:buNone/>
            </a:pPr>
            <a:r>
              <a:rPr lang="en-US" sz="1100" b="1" dirty="0">
                <a:solidFill>
                  <a:srgbClr val="FFCC33"/>
                </a:solidFill>
              </a:rPr>
              <a:t>Backend</a:t>
            </a:r>
            <a:endParaRPr lang="en-US" sz="1100" dirty="0"/>
          </a:p>
          <a:p>
            <a:pPr algn="ctr" indent="0" marL="0">
              <a:buNone/>
            </a:pPr>
            <a:r>
              <a:rPr lang="en-US" sz="850" dirty="0">
                <a:solidFill>
                  <a:srgbClr val="FFFFFF"/>
                </a:solidFill>
              </a:rPr>
              <a:t>Python stdlib only</a:t>
            </a:r>
            <a:endParaRPr lang="en-US" sz="1100" dirty="0"/>
          </a:p>
          <a:p>
            <a:pPr algn="ctr" indent="0" marL="0">
              <a:buNone/>
            </a:pPr>
            <a:r>
              <a:rPr lang="en-US" sz="850" dirty="0">
                <a:solidFill>
                  <a:srgbClr val="FFFFFF"/>
                </a:solidFill>
              </a:rPr>
              <a:t>~500 lines, k8s ConfigMap</a:t>
            </a:r>
            <a:endParaRPr lang="en-US" sz="1100" dirty="0"/>
          </a:p>
        </p:txBody>
      </p:sp>
      <p:sp>
        <p:nvSpPr>
          <p:cNvPr id="9" name="Arrow"/>
          <p:cNvSpPr txBox="1"/>
          <p:nvPr/>
        </p:nvSpPr>
        <p:spPr>
          <a:xfrm>
            <a:off x="3662172" y="1051560"/>
            <a:ext cx="150876" cy="960120"/>
          </a:xfrm>
          <a:prstGeom prst="rect">
            <a:avLst/>
          </a:prstGeom>
          <a:noFill/>
          <a:ln/>
        </p:spPr>
        <p:txBody>
          <a:bodyPr wrap="square" lIns="0" tIns="0" rIns="0" bIns="0" rtlCol="0" anchor="ctr"/>
          <a:lstStyle/>
          <a:p>
            <a:pPr algn="ctr" indent="0" marL="0">
              <a:buNone/>
            </a:pPr>
            <a:r>
              <a:rPr lang="en-US" sz="1600" dirty="0">
                <a:solidFill>
                  <a:srgbClr val="FFCC33"/>
                </a:solidFill>
              </a:rPr>
              <a:t>›</a:t>
            </a:r>
            <a:endParaRPr lang="en-US" sz="1600" dirty="0"/>
          </a:p>
        </p:txBody>
      </p:sp>
      <p:sp>
        <p:nvSpPr>
          <p:cNvPr id="10" name="Card"/>
          <p:cNvSpPr/>
          <p:nvPr/>
        </p:nvSpPr>
        <p:spPr>
          <a:xfrm>
            <a:off x="3794760" y="1051560"/>
            <a:ext cx="1554480" cy="960120"/>
          </a:xfrm>
          <a:prstGeom prst="roundRect">
            <a:avLst>
              <a:gd name="adj" fmla="val 7619"/>
            </a:avLst>
          </a:prstGeom>
          <a:solidFill>
            <a:srgbClr val="121826"/>
          </a:solidFill>
          <a:ln w="9525">
            <a:solidFill>
              <a:srgbClr val="202A3D"/>
            </a:solidFill>
            <a:prstDash val="solid"/>
          </a:ln>
        </p:spPr>
      </p:sp>
      <p:sp>
        <p:nvSpPr>
          <p:cNvPr id="11" name="Arch node"/>
          <p:cNvSpPr txBox="1"/>
          <p:nvPr/>
        </p:nvSpPr>
        <p:spPr>
          <a:xfrm>
            <a:off x="3794760" y="1051560"/>
            <a:ext cx="1554480" cy="960120"/>
          </a:xfrm>
          <a:prstGeom prst="rect">
            <a:avLst/>
          </a:prstGeom>
          <a:noFill/>
          <a:ln/>
        </p:spPr>
        <p:txBody>
          <a:bodyPr wrap="square" lIns="508" tIns="508" rIns="508" bIns="508" rtlCol="0" anchor="ctr"/>
          <a:lstStyle/>
          <a:p>
            <a:pPr algn="ctr" indent="0" marL="0">
              <a:buNone/>
            </a:pPr>
            <a:r>
              <a:rPr lang="en-US" sz="1100" b="1" dirty="0">
                <a:solidFill>
                  <a:srgbClr val="FFCC33"/>
                </a:solidFill>
              </a:rPr>
              <a:t>VSS REST</a:t>
            </a:r>
            <a:endParaRPr lang="en-US" sz="1100" dirty="0"/>
          </a:p>
          <a:p>
            <a:pPr algn="ctr" indent="0" marL="0">
              <a:buNone/>
            </a:pPr>
            <a:r>
              <a:rPr lang="en-US" sz="850" dirty="0">
                <a:solidFill>
                  <a:srgbClr val="FFFFFF"/>
                </a:solidFill>
              </a:rPr>
              <a:t>/stream /detections</a:t>
            </a:r>
            <a:endParaRPr lang="en-US" sz="1100" dirty="0"/>
          </a:p>
          <a:p>
            <a:pPr algn="ctr" indent="0" marL="0">
              <a:buNone/>
            </a:pPr>
            <a:r>
              <a:rPr lang="en-US" sz="850" dirty="0">
                <a:solidFill>
                  <a:srgbClr val="FFFFFF"/>
                </a:solidFill>
              </a:rPr>
              <a:t>/metadata /search /reingest</a:t>
            </a:r>
            <a:endParaRPr lang="en-US" sz="1100" dirty="0"/>
          </a:p>
        </p:txBody>
      </p:sp>
      <p:sp>
        <p:nvSpPr>
          <p:cNvPr id="12" name="Arrow"/>
          <p:cNvSpPr txBox="1"/>
          <p:nvPr/>
        </p:nvSpPr>
        <p:spPr>
          <a:xfrm>
            <a:off x="5330952" y="1051560"/>
            <a:ext cx="150876" cy="960120"/>
          </a:xfrm>
          <a:prstGeom prst="rect">
            <a:avLst/>
          </a:prstGeom>
          <a:noFill/>
          <a:ln/>
        </p:spPr>
        <p:txBody>
          <a:bodyPr wrap="square" lIns="0" tIns="0" rIns="0" bIns="0" rtlCol="0" anchor="ctr"/>
          <a:lstStyle/>
          <a:p>
            <a:pPr algn="ctr" indent="0" marL="0">
              <a:buNone/>
            </a:pPr>
            <a:r>
              <a:rPr lang="en-US" sz="1600" dirty="0">
                <a:solidFill>
                  <a:srgbClr val="FFCC33"/>
                </a:solidFill>
              </a:rPr>
              <a:t>›</a:t>
            </a:r>
            <a:endParaRPr lang="en-US" sz="1600" dirty="0"/>
          </a:p>
        </p:txBody>
      </p:sp>
      <p:sp>
        <p:nvSpPr>
          <p:cNvPr id="13" name="Card"/>
          <p:cNvSpPr/>
          <p:nvPr/>
        </p:nvSpPr>
        <p:spPr>
          <a:xfrm>
            <a:off x="5463540" y="1051560"/>
            <a:ext cx="1554480" cy="960120"/>
          </a:xfrm>
          <a:prstGeom prst="roundRect">
            <a:avLst>
              <a:gd name="adj" fmla="val 7619"/>
            </a:avLst>
          </a:prstGeom>
          <a:solidFill>
            <a:srgbClr val="1F2A1B"/>
          </a:solidFill>
          <a:ln w="9525">
            <a:solidFill>
              <a:srgbClr val="202A3D"/>
            </a:solidFill>
            <a:prstDash val="solid"/>
          </a:ln>
        </p:spPr>
      </p:sp>
      <p:sp>
        <p:nvSpPr>
          <p:cNvPr id="14" name="Arch node"/>
          <p:cNvSpPr txBox="1"/>
          <p:nvPr/>
        </p:nvSpPr>
        <p:spPr>
          <a:xfrm>
            <a:off x="5463540" y="1051560"/>
            <a:ext cx="1554480" cy="960120"/>
          </a:xfrm>
          <a:prstGeom prst="rect">
            <a:avLst/>
          </a:prstGeom>
          <a:noFill/>
          <a:ln/>
        </p:spPr>
        <p:txBody>
          <a:bodyPr wrap="square" lIns="508" tIns="508" rIns="508" bIns="508" rtlCol="0" anchor="ctr"/>
          <a:lstStyle/>
          <a:p>
            <a:pPr algn="ctr" indent="0" marL="0">
              <a:buNone/>
            </a:pPr>
            <a:r>
              <a:rPr lang="en-US" sz="1100" b="1" dirty="0">
                <a:solidFill>
                  <a:srgbClr val="4CD38A"/>
                </a:solidFill>
              </a:rPr>
              <a:t>VAST AI OS</a:t>
            </a:r>
            <a:endParaRPr lang="en-US" sz="1100" dirty="0"/>
          </a:p>
          <a:p>
            <a:pPr algn="ctr" indent="0" marL="0">
              <a:buNone/>
            </a:pPr>
            <a:r>
              <a:rPr lang="en-US" sz="850" dirty="0">
                <a:solidFill>
                  <a:srgbClr val="FFFFFF"/>
                </a:solidFill>
              </a:rPr>
              <a:t>S3 · DataEngine</a:t>
            </a:r>
            <a:endParaRPr lang="en-US" sz="1100" dirty="0"/>
          </a:p>
          <a:p>
            <a:pPr algn="ctr" indent="0" marL="0">
              <a:buNone/>
            </a:pPr>
            <a:r>
              <a:rPr lang="en-US" sz="850" dirty="0">
                <a:solidFill>
                  <a:srgbClr val="FFFFFF"/>
                </a:solidFill>
              </a:rPr>
              <a:t>VastDB vss-collection</a:t>
            </a:r>
            <a:endParaRPr lang="en-US" sz="1100" dirty="0"/>
          </a:p>
        </p:txBody>
      </p:sp>
      <p:sp>
        <p:nvSpPr>
          <p:cNvPr id="15" name="Arrow"/>
          <p:cNvSpPr txBox="1"/>
          <p:nvPr/>
        </p:nvSpPr>
        <p:spPr>
          <a:xfrm>
            <a:off x="6999732" y="1051560"/>
            <a:ext cx="150876" cy="960120"/>
          </a:xfrm>
          <a:prstGeom prst="rect">
            <a:avLst/>
          </a:prstGeom>
          <a:noFill/>
          <a:ln/>
        </p:spPr>
        <p:txBody>
          <a:bodyPr wrap="square" lIns="0" tIns="0" rIns="0" bIns="0" rtlCol="0" anchor="ctr"/>
          <a:lstStyle/>
          <a:p>
            <a:pPr algn="ctr" indent="0" marL="0">
              <a:buNone/>
            </a:pPr>
            <a:r>
              <a:rPr lang="en-US" sz="1600" dirty="0">
                <a:solidFill>
                  <a:srgbClr val="FFCC33"/>
                </a:solidFill>
              </a:rPr>
              <a:t>›</a:t>
            </a:r>
            <a:endParaRPr lang="en-US" sz="1600" dirty="0"/>
          </a:p>
        </p:txBody>
      </p:sp>
      <p:sp>
        <p:nvSpPr>
          <p:cNvPr id="16" name="Card"/>
          <p:cNvSpPr/>
          <p:nvPr/>
        </p:nvSpPr>
        <p:spPr>
          <a:xfrm>
            <a:off x="7132320" y="1051560"/>
            <a:ext cx="1554480" cy="960120"/>
          </a:xfrm>
          <a:prstGeom prst="roundRect">
            <a:avLst>
              <a:gd name="adj" fmla="val 7619"/>
            </a:avLst>
          </a:prstGeom>
          <a:solidFill>
            <a:srgbClr val="1F2A1B"/>
          </a:solidFill>
          <a:ln w="9525">
            <a:solidFill>
              <a:srgbClr val="202A3D"/>
            </a:solidFill>
            <a:prstDash val="solid"/>
          </a:ln>
        </p:spPr>
      </p:sp>
      <p:sp>
        <p:nvSpPr>
          <p:cNvPr id="17" name="Arch node"/>
          <p:cNvSpPr txBox="1"/>
          <p:nvPr/>
        </p:nvSpPr>
        <p:spPr>
          <a:xfrm>
            <a:off x="7132320" y="1051560"/>
            <a:ext cx="1554480" cy="960120"/>
          </a:xfrm>
          <a:prstGeom prst="rect">
            <a:avLst/>
          </a:prstGeom>
          <a:noFill/>
          <a:ln/>
        </p:spPr>
        <p:txBody>
          <a:bodyPr wrap="square" lIns="508" tIns="508" rIns="508" bIns="508" rtlCol="0" anchor="ctr"/>
          <a:lstStyle/>
          <a:p>
            <a:pPr algn="ctr" indent="0" marL="0">
              <a:buNone/>
            </a:pPr>
            <a:r>
              <a:rPr lang="en-US" sz="1100" b="1" dirty="0">
                <a:solidFill>
                  <a:srgbClr val="4CD38A"/>
                </a:solidFill>
              </a:rPr>
              <a:t>NVIDIA on CoreWeave</a:t>
            </a:r>
            <a:endParaRPr lang="en-US" sz="1100" dirty="0"/>
          </a:p>
          <a:p>
            <a:pPr algn="ctr" indent="0" marL="0">
              <a:buNone/>
            </a:pPr>
            <a:r>
              <a:rPr lang="en-US" sz="850" dirty="0">
                <a:solidFill>
                  <a:srgbClr val="FFFFFF"/>
                </a:solidFill>
              </a:rPr>
              <a:t>Cosmos3-Reason · Embed1</a:t>
            </a:r>
            <a:endParaRPr lang="en-US" sz="1100" dirty="0"/>
          </a:p>
          <a:p>
            <a:pPr algn="ctr" indent="0" marL="0">
              <a:buNone/>
            </a:pPr>
            <a:r>
              <a:rPr lang="en-US" sz="850" dirty="0">
                <a:solidFill>
                  <a:srgbClr val="FFFFFF"/>
                </a:solidFill>
              </a:rPr>
              <a:t>YOLO11s</a:t>
            </a:r>
            <a:endParaRPr lang="en-US" sz="1100" dirty="0"/>
          </a:p>
        </p:txBody>
      </p:sp>
      <p:sp>
        <p:nvSpPr>
          <p:cNvPr id="18" name="Limits head"/>
          <p:cNvSpPr txBox="1"/>
          <p:nvPr/>
        </p:nvSpPr>
        <p:spPr>
          <a:xfrm>
            <a:off x="457200" y="2240280"/>
            <a:ext cx="4023360" cy="274320"/>
          </a:xfrm>
          <a:prstGeom prst="rect">
            <a:avLst/>
          </a:prstGeom>
          <a:noFill/>
          <a:ln/>
        </p:spPr>
        <p:txBody>
          <a:bodyPr wrap="square" lIns="0" tIns="0" rIns="0" bIns="0" rtlCol="0" anchor="ctr"/>
          <a:lstStyle/>
          <a:p>
            <a:pPr indent="0" marL="0">
              <a:buNone/>
            </a:pPr>
            <a:r>
              <a:rPr lang="en-US" sz="1300" b="1" dirty="0">
                <a:solidFill>
                  <a:srgbClr val="FF5A5F"/>
                </a:solidFill>
              </a:rPr>
              <a:t>Honest limits</a:t>
            </a:r>
            <a:endParaRPr lang="en-US" sz="1300" dirty="0"/>
          </a:p>
        </p:txBody>
      </p:sp>
      <p:sp>
        <p:nvSpPr>
          <p:cNvPr id="19" name="Body"/>
          <p:cNvSpPr txBox="1"/>
          <p:nvPr/>
        </p:nvSpPr>
        <p:spPr>
          <a:xfrm>
            <a:off x="457200" y="2542032"/>
            <a:ext cx="4023360" cy="210312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FFFFFF"/>
                </a:solidFill>
              </a:rPr>
              <a:t>Candidate sightings, not vehicle re-identification.</a:t>
            </a:r>
            <a:endParaRPr lang="en-US" sz="1050" dirty="0"/>
          </a:p>
          <a:p>
            <a:pPr marL="177800" indent="-177800">
              <a:spcAft>
                <a:spcPts val="800"/>
              </a:spcAft>
              <a:buSzPct val="100000"/>
              <a:buChar char="•"/>
            </a:pPr>
            <a:r>
              <a:rPr lang="en-US" sz="1050" dirty="0">
                <a:solidFill>
                  <a:srgbClr val="FFFFFF"/>
                </a:solidFill>
              </a:rPr>
              <a:t>The collision is staged (a game); the agent's job starts after it. No crashes in the dataset.</a:t>
            </a:r>
            <a:endParaRPr lang="en-US" sz="1050" dirty="0"/>
          </a:p>
          <a:p>
            <a:pPr marL="177800" indent="-177800">
              <a:spcAft>
                <a:spcPts val="800"/>
              </a:spcAft>
              <a:buSzPct val="100000"/>
              <a:buChar char="•"/>
            </a:pPr>
            <a:r>
              <a:rPr lang="en-US" sz="1050" dirty="0">
                <a:solidFill>
                  <a:srgbClr val="FFFFFF"/>
                </a:solidFill>
              </a:rPr>
              <a:t>Re-describe takes minutes; pre-run for the demo.</a:t>
            </a:r>
            <a:endParaRPr lang="en-US" sz="1050" dirty="0"/>
          </a:p>
          <a:p>
            <a:pPr marL="177800" indent="-177800">
              <a:spcAft>
                <a:spcPts val="800"/>
              </a:spcAft>
              <a:buSzPct val="100000"/>
              <a:buChar char="•"/>
            </a:pPr>
            <a:r>
              <a:rPr lang="en-US" sz="1050" dirty="0">
                <a:solidFill>
                  <a:srgbClr val="FFFFFF"/>
                </a:solidFill>
              </a:rPr>
              <a:t>Does not call W&amp;B Inference or Cosmos directly — reads pipeline output from VastDB.</a:t>
            </a:r>
            <a:endParaRPr lang="en-US" sz="1050" dirty="0"/>
          </a:p>
          <a:p>
            <a:pPr marL="177800" indent="-177800">
              <a:spcAft>
                <a:spcPts val="800"/>
              </a:spcAft>
              <a:buSzPct val="100000"/>
              <a:buChar char="•"/>
            </a:pPr>
            <a:r>
              <a:rPr lang="en-US" sz="1050" dirty="0">
                <a:solidFill>
                  <a:srgbClr val="FFFFFF"/>
                </a:solidFill>
              </a:rPr>
              <a:t>One pole (3 cameras) of I-24 in the team archive.</a:t>
            </a:r>
            <a:endParaRPr lang="en-US" sz="1050" dirty="0"/>
          </a:p>
        </p:txBody>
      </p:sp>
      <p:sp>
        <p:nvSpPr>
          <p:cNvPr id="20" name="Next head"/>
          <p:cNvSpPr txBox="1"/>
          <p:nvPr/>
        </p:nvSpPr>
        <p:spPr>
          <a:xfrm>
            <a:off x="4846320" y="2240280"/>
            <a:ext cx="3840480" cy="274320"/>
          </a:xfrm>
          <a:prstGeom prst="rect">
            <a:avLst/>
          </a:prstGeom>
          <a:noFill/>
          <a:ln/>
        </p:spPr>
        <p:txBody>
          <a:bodyPr wrap="square" lIns="0" tIns="0" rIns="0" bIns="0" rtlCol="0" anchor="ctr"/>
          <a:lstStyle/>
          <a:p>
            <a:pPr indent="0" marL="0">
              <a:buNone/>
            </a:pPr>
            <a:r>
              <a:rPr lang="en-US" sz="1300" b="1" dirty="0">
                <a:solidFill>
                  <a:srgbClr val="4CD38A"/>
                </a:solidFill>
              </a:rPr>
              <a:t>What's next</a:t>
            </a:r>
            <a:endParaRPr lang="en-US" sz="1300" dirty="0"/>
          </a:p>
        </p:txBody>
      </p:sp>
      <p:sp>
        <p:nvSpPr>
          <p:cNvPr id="21" name="Body"/>
          <p:cNvSpPr txBox="1"/>
          <p:nvPr/>
        </p:nvSpPr>
        <p:spPr>
          <a:xfrm>
            <a:off x="4846320" y="2542032"/>
            <a:ext cx="3840480" cy="128016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FFFFFF"/>
                </a:solidFill>
              </a:rPr>
              <a:t>More poles: same code, more camera_id values in the filter.</a:t>
            </a:r>
            <a:endParaRPr lang="en-US" sz="1050" dirty="0"/>
          </a:p>
          <a:p>
            <a:pPr marL="177800" indent="-177800">
              <a:spcAft>
                <a:spcPts val="800"/>
              </a:spcAft>
              <a:buSzPct val="100000"/>
              <a:buChar char="•"/>
            </a:pPr>
            <a:r>
              <a:rPr lang="en-US" sz="1050" dirty="0">
                <a:solidFill>
                  <a:srgbClr val="FFFFFF"/>
                </a:solidFill>
              </a:rPr>
              <a:t>Track-level re-identification on top of the hybrid search.</a:t>
            </a:r>
            <a:endParaRPr lang="en-US" sz="1050" dirty="0"/>
          </a:p>
          <a:p>
            <a:pPr marL="177800" indent="-177800">
              <a:spcAft>
                <a:spcPts val="800"/>
              </a:spcAft>
              <a:buSzPct val="100000"/>
              <a:buChar char="•"/>
            </a:pPr>
            <a:r>
              <a:rPr lang="en-US" sz="1050" dirty="0">
                <a:solidFill>
                  <a:srgbClr val="FFFFFF"/>
                </a:solidFill>
              </a:rPr>
              <a:t>Ship the investigator prompt as the default for highway packs so the archive is sharp on ingest.</a:t>
            </a:r>
            <a:endParaRPr lang="en-US" sz="1050" dirty="0"/>
          </a:p>
        </p:txBody>
      </p:sp>
      <p:sp>
        <p:nvSpPr>
          <p:cNvPr id="22" name="Code"/>
          <p:cNvSpPr txBox="1"/>
          <p:nvPr/>
        </p:nvSpPr>
        <p:spPr>
          <a:xfrm>
            <a:off x="4846320" y="3931920"/>
            <a:ext cx="3840480" cy="685800"/>
          </a:xfrm>
          <a:prstGeom prst="rect">
            <a:avLst/>
          </a:prstGeom>
          <a:solidFill>
            <a:srgbClr val="0B0F17"/>
          </a:solidFill>
          <a:ln w="9525">
            <a:solidFill>
              <a:srgbClr val="202A3D"/>
            </a:solidFill>
          </a:ln>
        </p:spPr>
        <p:txBody>
          <a:bodyPr wrap="square" lIns="1016" tIns="1016" rIns="1016" bIns="1016"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github.com/vnmoorthy/hop24</a:t>
            </a:r>
            <a:endParaRPr lang="en-US" sz="950" dirty="0"/>
          </a:p>
          <a:p>
            <a:pPr indent="0" marL="0">
              <a:buNone/>
            </a:pPr>
            <a:r>
              <a:rPr lang="en-US" sz="950" dirty="0">
                <a:solidFill>
                  <a:srgbClr val="FFFFFF"/>
                </a:solidFill>
                <a:latin typeface="Courier New" pitchFamily="34" charset="0"/>
                <a:ea typeface="Courier New" pitchFamily="34" charset="-122"/>
                <a:cs typeface="Courier New" pitchFamily="34" charset="-120"/>
              </a:rPr>
              <a:t>live: team-10-app.thecosmoslabs.com/app/   (venue: video-lab-team-10.cosmos.vastdata.com/app)</a:t>
            </a:r>
            <a:endParaRPr lang="en-US" sz="950" dirty="0"/>
          </a:p>
        </p:txBody>
      </p:sp>
      <p:sp>
        <p:nvSpPr>
          <p:cNvPr id="25" name="Slide Number Placeholder 0"/>
          <p:cNvSpPr>
            <a:spLocks noGrp="1"/>
          </p:cNvSpPr>
          <p:nvPr>
            <p:ph type="sldNum" sz="quarter" idx="4294967295"/>
          </p:nvPr>
        </p:nvSpPr>
        <p:spPr>
          <a:xfrm>
            <a:off x="8412480" y="48006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Hop24 Night">
  <a:themeElements>
    <a:clrScheme name="Hop24 Night">
      <a:dk1>
        <a:srgbClr val="070A0F"/>
      </a:dk1>
      <a:lt1>
        <a:srgbClr val="FFFFFF"/>
      </a:lt1>
      <a:dk2>
        <a:srgbClr val="121826"/>
      </a:dk2>
      <a:lt2>
        <a:srgbClr val="AEB6C4"/>
      </a:lt2>
      <a:accent1>
        <a:srgbClr val="FFCC33"/>
      </a:accent1>
      <a:accent2>
        <a:srgbClr val="FF5A5F"/>
      </a:accent2>
      <a:accent3>
        <a:srgbClr val="4CD38A"/>
      </a:accent3>
      <a:accent4>
        <a:srgbClr val="4DA3FF"/>
      </a:accent4>
      <a:accent5>
        <a:srgbClr val="1B2333"/>
      </a:accent5>
      <a:accent6>
        <a:srgbClr val="2A3448"/>
      </a:accent6>
      <a:hlink>
        <a:srgbClr val="FFCC33"/>
      </a:hlink>
      <a:folHlink>
        <a:srgbClr val="AEB6C4"/>
      </a:folHlink>
    </a:clrScheme>
    <a:fontScheme name="Hop24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Hop 24</dc:title>
  <dc:subject>PptxGenJS Presentation</dc:subject>
  <dc:creator>Team 10</dc:creator>
  <cp:lastModifiedBy>Team 10</cp:lastModifiedBy>
  <cp:revision>1</cp:revision>
  <dcterms:created xsi:type="dcterms:W3CDTF">2026-10-02T21:58:31Z</dcterms:created>
  <dcterms:modified xsi:type="dcterms:W3CDTF">2026-10-02T21:58:31Z</dcterms:modified>
</cp:coreProperties>
</file>